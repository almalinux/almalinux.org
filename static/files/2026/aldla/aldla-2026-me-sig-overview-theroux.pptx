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is the M&amp;E SIG's one-year update: where we came from (SIGGRAPH 2024/2025), what we tested on AlmaLinux 10 + KDE Plasma, and the Wayland + remote desktop frontier. We'll close with the community hardware catalog and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SIG didn't appear in a vacuum. It came directly out of conversations on the SIGGRAPH floor in 2024 and 2025. Enterprise Linux gives stability; studios need that stability without the rigidity. That tension is the whole reason the SIG exists. (~2.5 min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for the next 25 minutes. Don't dwell — 30 seconds. Set expectation that there's a live demo in the middle, and that we'll keep a few minutes for questions at the end. (~0.5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engineering year went. Three tracks: validating AlmaLinux 10 with KDE Plasma; getting Wayland right for color-accurate, low-latency work; and the remote desktop equation. The next two slides go deep on the two hard ones. (~1 min, this is the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(~3 min). Wayland is replacing X11 across the enterprise desktop, AlmaLinux included. The three things to land: (1) Color management — X11 let tools poke the display directly; Wayland routes through the compositor, so we need ICC-aware color handling end to end or artists can't trust their monitor. (2) Latency — interactive work (paint strokes, scrubbing a timeline, orbiting a 3D viewport) is unforgiving; frame pacing and input latency have to be right. (3) Isolation — Wayland deliberately blocks apps from grabbing the whole screen or other windows' input; that's a security win but screen capture, color pickers, and some automation need explicit portals. Our testing has been about finding which creative tools are ready today versus which still need X11 fallback. Be honest that this is in-progress, not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(~3.5 min — this is your wheelhouse, you can go deep). The industry shift: studios don't want assets leaving the building, and GPUs are expensive to put on every desk. So the model flips — render host in the datacenter/cloud, artist gets a streamed desktop. Walk the three boxes left to right. The hard parts are the same as Wayland plus the network: color-accurate encoding (you can't ship a washed-out stream to a colorist), latency low enough that a pen stroke or a scrub feels local, and passthrough for multi-monitor setups and pen tablets. This is exactly the Linux display-stack problem the remote desktop world is racing to solve. Keep vendor-neutral on stage unless asked; if someone asks specifics, that's a great Q&amp;A thread. Tie back: the SIG's job is making sure AlmaLinux is a first-class citizen for these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project: the Works-On hardware catalog. It answers 'will my rig run this stack?' with real community reports. Privacy-first — no hostnames, no serials. The loop is three steps: run a script, paste JSON into a GitHub issue, and it's auto-validated and published within a minute. Already covers a spread of AMD and NVIDIA GPUs. (~2 min. Next is a quick live demo of that submit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 Works-On submit (~3 min). CUE CARDS:
• Frame it: 'this is how the database on the last slide gets built — by people in this room.'
• (1) Run the one-liner in a terminal. While it runs, say what it does NOT collect — no hostnames, no serials — privacy-first is the whole pitch.
• (2) The script auto-opens the GitHub issue form; paste from clipboard. Show the JSON is readable/plain.
• (3) Submit. Explain the GitHub Action validates and publishes within ~a minute; pull up the results page to show live entries.
• Ask the room to submit their rigs after the talk — concrete call to action.
FALLBACK: if no network/login, show a pre-filled issue and the live results page (already open in a tab). Keep it tight.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(~2 min). Studios can use these tools today — GPLv3, no lock-in. Contributors can add apps, improve installs, or submit a hardware report. Next up: hardening Wayland and remote desktop, COPR for the newer releases, and broader desktop-environment coverage. Join channel and repo are on screen. Then advance to the Q&amp;A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(~4 min, light). Likely questions and quick answers:
• 'Does it work on Rocky / RHEL / Fedora?' — built and tested for AlmaLinux; the approach generalizes, broader coverage is on the roadmap.
• 'Why not Flatpak for everything?' — many pro/vendor tools aren't on Flathub or need vendor RPMs; multi-source is the honest answer.
• 'Which remote desktop / does it ship one?' — the installer doesn't bundle one; the SIG is testing the display-stack pieces. (Vendor-neutral on stage.)
• 'Is the GUI safe to run on a managed fleet?' — yes; unprivileged GUI + Polkit, nothing to whitelist as root.
• 'How do I add an app?' — CONTRIBUTING.md in the repo; it's a curated catalog, PRs welcome.
If no questions: re-invite everyone to submit a hardware report and join the SIG chat. Thank the room and the organizers.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alphaModFix amt="65000"/>
          </a:blip>
          <a:stretch>
            <a:fillRect/>
          </a:stretch>
        </p:blipFill>
        <p:spPr>
          <a:xfrm>
            <a:off x="10561320" y="502920"/>
            <a:ext cx="914400" cy="914400"/>
          </a:xfrm>
          <a:prstGeom prst="rect">
            <a:avLst/>
          </a:prstGeom>
        </p:spPr>
      </p:pic>
      <p:sp>
        <p:nvSpPr>
          <p:cNvPr id="3" name="Text 0"/>
          <p:cNvSpPr/>
          <p:nvPr/>
        </p:nvSpPr>
        <p:spPr>
          <a:xfrm>
            <a:off x="822960" y="868680"/>
            <a:ext cx="8229600" cy="365760"/>
          </a:xfrm>
          <a:prstGeom prst="rect">
            <a:avLst/>
          </a:prstGeom>
          <a:noFill/>
          <a:ln/>
        </p:spPr>
        <p:txBody>
          <a:bodyPr wrap="square" lIns="0" tIns="0" rIns="0" bIns="0" rtlCol="0" anchor="ctr"/>
          <a:lstStyle/>
          <a:p>
            <a:pPr indent="0" marL="0">
              <a:buNone/>
            </a:pPr>
            <a:r>
              <a:rPr lang="en-US" sz="1400" b="1" spc="300" kern="0" dirty="0">
                <a:solidFill>
                  <a:srgbClr val="16C98D"/>
                </a:solidFill>
                <a:latin typeface="Calibri" pitchFamily="34" charset="0"/>
                <a:ea typeface="Calibri" pitchFamily="34" charset="-122"/>
                <a:cs typeface="Calibri" pitchFamily="34" charset="-120"/>
              </a:rPr>
              <a:t>ALMALINUX  MEDIA &amp; ENTERTAINMENT  SIG</a:t>
            </a:r>
            <a:endParaRPr lang="en-US" sz="1400" dirty="0"/>
          </a:p>
        </p:txBody>
      </p:sp>
      <p:sp>
        <p:nvSpPr>
          <p:cNvPr id="4" name="Text 1"/>
          <p:cNvSpPr/>
          <p:nvPr/>
        </p:nvSpPr>
        <p:spPr>
          <a:xfrm>
            <a:off x="777240" y="1554480"/>
            <a:ext cx="10515600" cy="2651760"/>
          </a:xfrm>
          <a:prstGeom prst="rect">
            <a:avLst/>
          </a:prstGeom>
          <a:noFill/>
          <a:ln/>
        </p:spPr>
        <p:txBody>
          <a:bodyPr wrap="square" lIns="0" tIns="0" rIns="0" bIns="0" rtlCol="0" anchor="ctr"/>
          <a:lstStyle/>
          <a:p>
            <a:pPr algn="l" indent="0" marL="0">
              <a:lnSpc>
                <a:spcPts val="5800"/>
              </a:lnSpc>
              <a:buNone/>
            </a:pPr>
            <a:r>
              <a:rPr lang="en-US" sz="5400" b="1" dirty="0">
                <a:solidFill>
                  <a:srgbClr val="F4F6F9"/>
                </a:solidFill>
                <a:latin typeface="Bookman Old Style" pitchFamily="34" charset="0"/>
                <a:ea typeface="Bookman Old Style" pitchFamily="34" charset="-122"/>
                <a:cs typeface="Bookman Old Style" pitchFamily="34" charset="-120"/>
              </a:rPr>
              <a:t>Every Studio Size.</a:t>
            </a:r>
            <a:endParaRPr lang="en-US" sz="5400" dirty="0"/>
          </a:p>
          <a:p>
            <a:pPr algn="l" indent="0" marL="0">
              <a:lnSpc>
                <a:spcPts val="5800"/>
              </a:lnSpc>
              <a:buNone/>
            </a:pPr>
            <a:r>
              <a:rPr lang="en-US" sz="5400" b="1" dirty="0">
                <a:solidFill>
                  <a:srgbClr val="F4F6F9"/>
                </a:solidFill>
                <a:latin typeface="Bookman Old Style" pitchFamily="34" charset="0"/>
                <a:ea typeface="Bookman Old Style" pitchFamily="34" charset="-122"/>
                <a:cs typeface="Bookman Old Style" pitchFamily="34" charset="-120"/>
              </a:rPr>
              <a:t>Every Freelance Artist.</a:t>
            </a:r>
            <a:endParaRPr lang="en-US" sz="5400" dirty="0"/>
          </a:p>
          <a:p>
            <a:pPr algn="l" indent="0" marL="0">
              <a:lnSpc>
                <a:spcPts val="5800"/>
              </a:lnSpc>
              <a:buNone/>
            </a:pPr>
            <a:r>
              <a:rPr lang="en-US" sz="5400" b="1" dirty="0">
                <a:solidFill>
                  <a:srgbClr val="16C98D"/>
                </a:solidFill>
                <a:latin typeface="Bookman Old Style" pitchFamily="34" charset="0"/>
                <a:ea typeface="Bookman Old Style" pitchFamily="34" charset="-122"/>
                <a:cs typeface="Bookman Old Style" pitchFamily="34" charset="-120"/>
              </a:rPr>
              <a:t>Every Student, Empowered.</a:t>
            </a:r>
            <a:endParaRPr lang="en-US" sz="5400" dirty="0"/>
          </a:p>
        </p:txBody>
      </p:sp>
      <p:sp>
        <p:nvSpPr>
          <p:cNvPr id="5" name="Text 2"/>
          <p:cNvSpPr/>
          <p:nvPr/>
        </p:nvSpPr>
        <p:spPr>
          <a:xfrm>
            <a:off x="822960" y="4343400"/>
            <a:ext cx="8778240" cy="731520"/>
          </a:xfrm>
          <a:prstGeom prst="rect">
            <a:avLst/>
          </a:prstGeom>
          <a:noFill/>
          <a:ln/>
        </p:spPr>
        <p:txBody>
          <a:bodyPr wrap="square" lIns="0" tIns="0" rIns="0" bIns="0" rtlCol="0" anchor="ctr"/>
          <a:lstStyle/>
          <a:p>
            <a:pPr indent="0" marL="0">
              <a:lnSpc>
                <a:spcPts val="2400"/>
              </a:lnSpc>
              <a:buNone/>
            </a:pPr>
            <a:r>
              <a:rPr lang="en-US" sz="1800" dirty="0">
                <a:solidFill>
                  <a:srgbClr val="9AA7B8"/>
                </a:solidFill>
                <a:latin typeface="Calibri" pitchFamily="34" charset="0"/>
                <a:ea typeface="Calibri" pitchFamily="34" charset="-122"/>
                <a:cs typeface="Calibri" pitchFamily="34" charset="-120"/>
              </a:rPr>
              <a:t>One year of building production-ready open-source infrastructure for Linux VFX and creative pipelines.</a:t>
            </a:r>
            <a:endParaRPr lang="en-US" sz="1800" dirty="0"/>
          </a:p>
        </p:txBody>
      </p:sp>
      <p:sp>
        <p:nvSpPr>
          <p:cNvPr id="6" name="Shape 3"/>
          <p:cNvSpPr/>
          <p:nvPr/>
        </p:nvSpPr>
        <p:spPr>
          <a:xfrm>
            <a:off x="822960" y="5486400"/>
            <a:ext cx="10515600" cy="0"/>
          </a:xfrm>
          <a:prstGeom prst="line">
            <a:avLst/>
          </a:prstGeom>
          <a:noFill/>
          <a:ln w="12700">
            <a:solidFill>
              <a:srgbClr val="2A323D"/>
            </a:solidFill>
            <a:prstDash val="solid"/>
          </a:ln>
        </p:spPr>
      </p:sp>
      <p:sp>
        <p:nvSpPr>
          <p:cNvPr id="7" name="Text 4"/>
          <p:cNvSpPr/>
          <p:nvPr/>
        </p:nvSpPr>
        <p:spPr>
          <a:xfrm>
            <a:off x="822960" y="5669280"/>
            <a:ext cx="6400800" cy="365760"/>
          </a:xfrm>
          <a:prstGeom prst="rect">
            <a:avLst/>
          </a:prstGeom>
          <a:noFill/>
          <a:ln/>
        </p:spPr>
        <p:txBody>
          <a:bodyPr wrap="square" lIns="0" tIns="0" rIns="0" bIns="0" rtlCol="0" anchor="ctr"/>
          <a:lstStyle/>
          <a:p>
            <a:pPr indent="0" marL="0">
              <a:buNone/>
            </a:pPr>
            <a:r>
              <a:rPr lang="en-US" sz="1400" dirty="0">
                <a:solidFill>
                  <a:srgbClr val="9AA7B8"/>
                </a:solidFill>
                <a:latin typeface="Calibri" pitchFamily="34" charset="0"/>
                <a:ea typeface="Calibri" pitchFamily="34" charset="-122"/>
                <a:cs typeface="Calibri" pitchFamily="34" charset="-120"/>
              </a:rPr>
              <a:t>AlmaLinux Day: Los Angeles 2026</a:t>
            </a:r>
            <a:endParaRPr lang="en-US" sz="1400" dirty="0"/>
          </a:p>
        </p:txBody>
      </p:sp>
      <p:sp>
        <p:nvSpPr>
          <p:cNvPr id="8" name="Text 5"/>
          <p:cNvSpPr/>
          <p:nvPr/>
        </p:nvSpPr>
        <p:spPr>
          <a:xfrm>
            <a:off x="5760720" y="5669280"/>
            <a:ext cx="5577840" cy="365760"/>
          </a:xfrm>
          <a:prstGeom prst="rect">
            <a:avLst/>
          </a:prstGeom>
          <a:noFill/>
          <a:ln/>
        </p:spPr>
        <p:txBody>
          <a:bodyPr wrap="square" lIns="0" tIns="0" rIns="0" bIns="0" rtlCol="0" anchor="ctr"/>
          <a:lstStyle/>
          <a:p>
            <a:pPr algn="r" indent="0" marL="0">
              <a:buNone/>
            </a:pPr>
            <a:r>
              <a:rPr lang="en-US" sz="1400" dirty="0">
                <a:solidFill>
                  <a:srgbClr val="9AA7B8"/>
                </a:solidFill>
                <a:latin typeface="Calibri" pitchFamily="34" charset="0"/>
                <a:ea typeface="Calibri" pitchFamily="34" charset="-122"/>
                <a:cs typeface="Calibri" pitchFamily="34" charset="-120"/>
              </a:rPr>
              <a:t>SIG Overview · One-Year Update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22960" y="640080"/>
            <a:ext cx="5486400" cy="274320"/>
          </a:xfrm>
          <a:prstGeom prst="rect">
            <a:avLst/>
          </a:prstGeom>
          <a:noFill/>
          <a:ln/>
        </p:spPr>
        <p:txBody>
          <a:bodyPr wrap="square" lIns="0" tIns="0" rIns="0" bIns="0" rtlCol="0" anchor="ctr"/>
          <a:lstStyle/>
          <a:p>
            <a:pPr algn="l" indent="0" marL="0">
              <a:buNone/>
            </a:pPr>
            <a:r>
              <a:rPr lang="en-US" sz="1200" b="1" spc="300" kern="0" dirty="0">
                <a:solidFill>
                  <a:srgbClr val="16C98D"/>
                </a:solidFill>
                <a:latin typeface="Calibri" pitchFamily="34" charset="0"/>
                <a:ea typeface="Calibri" pitchFamily="34" charset="-122"/>
                <a:cs typeface="Calibri" pitchFamily="34" charset="-120"/>
              </a:rPr>
              <a:t>ORIGINS &amp; PURPOSE</a:t>
            </a:r>
            <a:endParaRPr lang="en-US" sz="1200" dirty="0"/>
          </a:p>
        </p:txBody>
      </p:sp>
      <p:sp>
        <p:nvSpPr>
          <p:cNvPr id="3" name="Text 1"/>
          <p:cNvSpPr/>
          <p:nvPr/>
        </p:nvSpPr>
        <p:spPr>
          <a:xfrm>
            <a:off x="822960" y="914400"/>
            <a:ext cx="10515600" cy="822960"/>
          </a:xfrm>
          <a:prstGeom prst="rect">
            <a:avLst/>
          </a:prstGeom>
          <a:noFill/>
          <a:ln/>
        </p:spPr>
        <p:txBody>
          <a:bodyPr wrap="square" lIns="0" tIns="0" rIns="0" bIns="0" rtlCol="0" anchor="ctr"/>
          <a:lstStyle/>
          <a:p>
            <a:pPr indent="0" marL="0">
              <a:buNone/>
            </a:pPr>
            <a:r>
              <a:rPr lang="en-US" sz="3600" b="1" dirty="0">
                <a:solidFill>
                  <a:srgbClr val="1A2230"/>
                </a:solidFill>
                <a:latin typeface="Bookman Old Style" pitchFamily="34" charset="0"/>
                <a:ea typeface="Bookman Old Style" pitchFamily="34" charset="-122"/>
                <a:cs typeface="Bookman Old Style" pitchFamily="34" charset="-120"/>
              </a:rPr>
              <a:t>Born from the SIGGRAPH community</a:t>
            </a:r>
            <a:endParaRPr lang="en-US" sz="3600" dirty="0"/>
          </a:p>
        </p:txBody>
      </p:sp>
      <p:sp>
        <p:nvSpPr>
          <p:cNvPr id="4" name="Text 2"/>
          <p:cNvSpPr/>
          <p:nvPr/>
        </p:nvSpPr>
        <p:spPr>
          <a:xfrm>
            <a:off x="822960" y="1783080"/>
            <a:ext cx="10241280" cy="640080"/>
          </a:xfrm>
          <a:prstGeom prst="rect">
            <a:avLst/>
          </a:prstGeom>
          <a:noFill/>
          <a:ln/>
        </p:spPr>
        <p:txBody>
          <a:bodyPr wrap="square" lIns="0" tIns="0" rIns="0" bIns="0" rtlCol="0" anchor="ctr"/>
          <a:lstStyle/>
          <a:p>
            <a:pPr indent="0" marL="0">
              <a:lnSpc>
                <a:spcPts val="2300"/>
              </a:lnSpc>
              <a:buNone/>
            </a:pPr>
            <a:r>
              <a:rPr lang="en-US" sz="1700" dirty="0">
                <a:solidFill>
                  <a:srgbClr val="5C6B7E"/>
                </a:solidFill>
                <a:latin typeface="Calibri" pitchFamily="34" charset="0"/>
                <a:ea typeface="Calibri" pitchFamily="34" charset="-122"/>
                <a:cs typeface="Calibri" pitchFamily="34" charset="-120"/>
              </a:rPr>
              <a:t>Spun off after direct discussions at SIGGRAPH 2024 and 2025 to close the gap between enterprise Linux stability and the rigid demands of studio pipelines.</a:t>
            </a:r>
            <a:endParaRPr lang="en-US" sz="1700" dirty="0"/>
          </a:p>
        </p:txBody>
      </p:sp>
      <p:sp>
        <p:nvSpPr>
          <p:cNvPr id="5" name="Shape 3"/>
          <p:cNvSpPr/>
          <p:nvPr/>
        </p:nvSpPr>
        <p:spPr>
          <a:xfrm>
            <a:off x="822960" y="2743200"/>
            <a:ext cx="3429000" cy="3108960"/>
          </a:xfrm>
          <a:prstGeom prst="roundRect">
            <a:avLst>
              <a:gd name="adj" fmla="val 3529"/>
            </a:avLst>
          </a:prstGeom>
          <a:solidFill>
            <a:srgbClr val="FFFFFF"/>
          </a:solidFill>
          <a:ln/>
          <a:effectLst>
            <a:outerShdw sx="100000" sy="100000" kx="0" ky="0" algn="bl" rotWithShape="0" blurRad="114300" dist="38100" dir="5400000">
              <a:srgbClr val="000000">
                <a:alpha val="14000"/>
              </a:srgbClr>
            </a:outerShdw>
          </a:effectLst>
        </p:spPr>
      </p:sp>
      <p:sp>
        <p:nvSpPr>
          <p:cNvPr id="6" name="Shape 4"/>
          <p:cNvSpPr/>
          <p:nvPr/>
        </p:nvSpPr>
        <p:spPr>
          <a:xfrm>
            <a:off x="1188720" y="3154680"/>
            <a:ext cx="868680" cy="868680"/>
          </a:xfrm>
          <a:prstGeom prst="ellipse">
            <a:avLst/>
          </a:prstGeom>
          <a:solidFill>
            <a:srgbClr val="F0F3F7"/>
          </a:solidFill>
          <a:ln/>
        </p:spPr>
      </p:sp>
      <p:pic>
        <p:nvPicPr>
          <p:cNvPr id="7" name="Image 0" descr="preencoded.png"/>
          <p:cNvPicPr>
            <a:picLocks noChangeAspect="1"/>
          </p:cNvPicPr>
          <p:nvPr/>
        </p:nvPicPr>
        <p:blipFill>
          <a:blip r:embed="rId1"/>
          <a:stretch>
            <a:fillRect/>
          </a:stretch>
        </p:blipFill>
        <p:spPr>
          <a:xfrm>
            <a:off x="1389888" y="3355848"/>
            <a:ext cx="457200" cy="457200"/>
          </a:xfrm>
          <a:prstGeom prst="rect">
            <a:avLst/>
          </a:prstGeom>
        </p:spPr>
      </p:pic>
      <p:sp>
        <p:nvSpPr>
          <p:cNvPr id="8" name="Text 5"/>
          <p:cNvSpPr/>
          <p:nvPr/>
        </p:nvSpPr>
        <p:spPr>
          <a:xfrm>
            <a:off x="1188720" y="4251960"/>
            <a:ext cx="2697480" cy="457200"/>
          </a:xfrm>
          <a:prstGeom prst="rect">
            <a:avLst/>
          </a:prstGeom>
          <a:noFill/>
          <a:ln/>
        </p:spPr>
        <p:txBody>
          <a:bodyPr wrap="square" lIns="0" tIns="0" rIns="0" bIns="0" rtlCol="0" anchor="ctr"/>
          <a:lstStyle/>
          <a:p>
            <a:pPr indent="0" marL="0">
              <a:buNone/>
            </a:pPr>
            <a:r>
              <a:rPr lang="en-US" sz="2000" b="1" dirty="0">
                <a:solidFill>
                  <a:srgbClr val="1A2230"/>
                </a:solidFill>
                <a:latin typeface="Bookman Old Style" pitchFamily="34" charset="0"/>
                <a:ea typeface="Bookman Old Style" pitchFamily="34" charset="-122"/>
                <a:cs typeface="Bookman Old Style" pitchFamily="34" charset="-120"/>
              </a:rPr>
              <a:t>Community first</a:t>
            </a:r>
            <a:endParaRPr lang="en-US" sz="2000" dirty="0"/>
          </a:p>
        </p:txBody>
      </p:sp>
      <p:sp>
        <p:nvSpPr>
          <p:cNvPr id="9" name="Text 6"/>
          <p:cNvSpPr/>
          <p:nvPr/>
        </p:nvSpPr>
        <p:spPr>
          <a:xfrm>
            <a:off x="1188720" y="4754880"/>
            <a:ext cx="2697480" cy="960120"/>
          </a:xfrm>
          <a:prstGeom prst="rect">
            <a:avLst/>
          </a:prstGeom>
          <a:noFill/>
          <a:ln/>
        </p:spPr>
        <p:txBody>
          <a:bodyPr wrap="square" lIns="0" tIns="0" rIns="0" bIns="0" rtlCol="0" anchor="ctr"/>
          <a:lstStyle/>
          <a:p>
            <a:pPr indent="0" marL="0">
              <a:lnSpc>
                <a:spcPts val="2000"/>
              </a:lnSpc>
              <a:buNone/>
            </a:pPr>
            <a:r>
              <a:rPr lang="en-US" sz="1450" dirty="0">
                <a:solidFill>
                  <a:srgbClr val="5C6B7E"/>
                </a:solidFill>
                <a:latin typeface="Calibri" pitchFamily="34" charset="0"/>
                <a:ea typeface="Calibri" pitchFamily="34" charset="-122"/>
                <a:cs typeface="Calibri" pitchFamily="34" charset="-120"/>
              </a:rPr>
              <a:t>Direct feedback from artists and studios at SIGGRAPH shaped the mission from day one.</a:t>
            </a:r>
            <a:endParaRPr lang="en-US" sz="1450" dirty="0"/>
          </a:p>
        </p:txBody>
      </p:sp>
      <p:sp>
        <p:nvSpPr>
          <p:cNvPr id="10" name="Shape 7"/>
          <p:cNvSpPr/>
          <p:nvPr/>
        </p:nvSpPr>
        <p:spPr>
          <a:xfrm>
            <a:off x="4572000" y="2743200"/>
            <a:ext cx="3429000" cy="3108960"/>
          </a:xfrm>
          <a:prstGeom prst="roundRect">
            <a:avLst>
              <a:gd name="adj" fmla="val 3529"/>
            </a:avLst>
          </a:prstGeom>
          <a:solidFill>
            <a:srgbClr val="FFFFFF"/>
          </a:solidFill>
          <a:ln/>
          <a:effectLst>
            <a:outerShdw sx="100000" sy="100000" kx="0" ky="0" algn="bl" rotWithShape="0" blurRad="114300" dist="38100" dir="5400000">
              <a:srgbClr val="000000">
                <a:alpha val="14000"/>
              </a:srgbClr>
            </a:outerShdw>
          </a:effectLst>
        </p:spPr>
      </p:sp>
      <p:sp>
        <p:nvSpPr>
          <p:cNvPr id="11" name="Shape 8"/>
          <p:cNvSpPr/>
          <p:nvPr/>
        </p:nvSpPr>
        <p:spPr>
          <a:xfrm>
            <a:off x="4937760" y="3154680"/>
            <a:ext cx="868680" cy="868680"/>
          </a:xfrm>
          <a:prstGeom prst="ellipse">
            <a:avLst/>
          </a:prstGeom>
          <a:solidFill>
            <a:srgbClr val="F0F3F7"/>
          </a:solidFill>
          <a:ln/>
        </p:spPr>
      </p:sp>
      <p:pic>
        <p:nvPicPr>
          <p:cNvPr id="12" name="Image 1" descr="preencoded.png"/>
          <p:cNvPicPr>
            <a:picLocks noChangeAspect="1"/>
          </p:cNvPicPr>
          <p:nvPr/>
        </p:nvPicPr>
        <p:blipFill>
          <a:blip r:embed="rId2"/>
          <a:stretch>
            <a:fillRect/>
          </a:stretch>
        </p:blipFill>
        <p:spPr>
          <a:xfrm>
            <a:off x="5138928" y="3355848"/>
            <a:ext cx="457200" cy="457200"/>
          </a:xfrm>
          <a:prstGeom prst="rect">
            <a:avLst/>
          </a:prstGeom>
        </p:spPr>
      </p:pic>
      <p:sp>
        <p:nvSpPr>
          <p:cNvPr id="13" name="Text 9"/>
          <p:cNvSpPr/>
          <p:nvPr/>
        </p:nvSpPr>
        <p:spPr>
          <a:xfrm>
            <a:off x="4937760" y="4251960"/>
            <a:ext cx="2697480" cy="457200"/>
          </a:xfrm>
          <a:prstGeom prst="rect">
            <a:avLst/>
          </a:prstGeom>
          <a:noFill/>
          <a:ln/>
        </p:spPr>
        <p:txBody>
          <a:bodyPr wrap="square" lIns="0" tIns="0" rIns="0" bIns="0" rtlCol="0" anchor="ctr"/>
          <a:lstStyle/>
          <a:p>
            <a:pPr indent="0" marL="0">
              <a:buNone/>
            </a:pPr>
            <a:r>
              <a:rPr lang="en-US" sz="2000" b="1" dirty="0">
                <a:solidFill>
                  <a:srgbClr val="1A2230"/>
                </a:solidFill>
                <a:latin typeface="Bookman Old Style" pitchFamily="34" charset="0"/>
                <a:ea typeface="Bookman Old Style" pitchFamily="34" charset="-122"/>
                <a:cs typeface="Bookman Old Style" pitchFamily="34" charset="-120"/>
              </a:rPr>
              <a:t>From node to desk</a:t>
            </a:r>
            <a:endParaRPr lang="en-US" sz="2000" dirty="0"/>
          </a:p>
        </p:txBody>
      </p:sp>
      <p:sp>
        <p:nvSpPr>
          <p:cNvPr id="14" name="Text 10"/>
          <p:cNvSpPr/>
          <p:nvPr/>
        </p:nvSpPr>
        <p:spPr>
          <a:xfrm>
            <a:off x="4937760" y="4754880"/>
            <a:ext cx="2697480" cy="960120"/>
          </a:xfrm>
          <a:prstGeom prst="rect">
            <a:avLst/>
          </a:prstGeom>
          <a:noFill/>
          <a:ln/>
        </p:spPr>
        <p:txBody>
          <a:bodyPr wrap="square" lIns="0" tIns="0" rIns="0" bIns="0" rtlCol="0" anchor="ctr"/>
          <a:lstStyle/>
          <a:p>
            <a:pPr indent="0" marL="0">
              <a:lnSpc>
                <a:spcPts val="2000"/>
              </a:lnSpc>
              <a:buNone/>
            </a:pPr>
            <a:r>
              <a:rPr lang="en-US" sz="1450" dirty="0">
                <a:solidFill>
                  <a:srgbClr val="5C6B7E"/>
                </a:solidFill>
                <a:latin typeface="Calibri" pitchFamily="34" charset="0"/>
                <a:ea typeface="Calibri" pitchFamily="34" charset="-122"/>
                <a:cs typeface="Calibri" pitchFamily="34" charset="-120"/>
              </a:rPr>
              <a:t>Built for the full range — heavy render nodes through to color-critical artist workstations.</a:t>
            </a:r>
            <a:endParaRPr lang="en-US" sz="1450" dirty="0"/>
          </a:p>
        </p:txBody>
      </p:sp>
      <p:sp>
        <p:nvSpPr>
          <p:cNvPr id="15" name="Shape 11"/>
          <p:cNvSpPr/>
          <p:nvPr/>
        </p:nvSpPr>
        <p:spPr>
          <a:xfrm>
            <a:off x="8321040" y="2743200"/>
            <a:ext cx="3429000" cy="3108960"/>
          </a:xfrm>
          <a:prstGeom prst="roundRect">
            <a:avLst>
              <a:gd name="adj" fmla="val 3529"/>
            </a:avLst>
          </a:prstGeom>
          <a:solidFill>
            <a:srgbClr val="FFFFFF"/>
          </a:solidFill>
          <a:ln/>
          <a:effectLst>
            <a:outerShdw sx="100000" sy="100000" kx="0" ky="0" algn="bl" rotWithShape="0" blurRad="114300" dist="38100" dir="5400000">
              <a:srgbClr val="000000">
                <a:alpha val="14000"/>
              </a:srgbClr>
            </a:outerShdw>
          </a:effectLst>
        </p:spPr>
      </p:sp>
      <p:sp>
        <p:nvSpPr>
          <p:cNvPr id="16" name="Shape 12"/>
          <p:cNvSpPr/>
          <p:nvPr/>
        </p:nvSpPr>
        <p:spPr>
          <a:xfrm>
            <a:off x="8686800" y="3154680"/>
            <a:ext cx="868680" cy="868680"/>
          </a:xfrm>
          <a:prstGeom prst="ellipse">
            <a:avLst/>
          </a:prstGeom>
          <a:solidFill>
            <a:srgbClr val="F0F3F7"/>
          </a:solidFill>
          <a:ln/>
        </p:spPr>
      </p:sp>
      <p:pic>
        <p:nvPicPr>
          <p:cNvPr id="17" name="Image 2" descr="preencoded.png"/>
          <p:cNvPicPr>
            <a:picLocks noChangeAspect="1"/>
          </p:cNvPicPr>
          <p:nvPr/>
        </p:nvPicPr>
        <p:blipFill>
          <a:blip r:embed="rId3"/>
          <a:stretch>
            <a:fillRect/>
          </a:stretch>
        </p:blipFill>
        <p:spPr>
          <a:xfrm>
            <a:off x="8887968" y="3355848"/>
            <a:ext cx="457200" cy="457200"/>
          </a:xfrm>
          <a:prstGeom prst="rect">
            <a:avLst/>
          </a:prstGeom>
        </p:spPr>
      </p:pic>
      <p:sp>
        <p:nvSpPr>
          <p:cNvPr id="18" name="Text 13"/>
          <p:cNvSpPr/>
          <p:nvPr/>
        </p:nvSpPr>
        <p:spPr>
          <a:xfrm>
            <a:off x="8686800" y="4251960"/>
            <a:ext cx="2697480" cy="457200"/>
          </a:xfrm>
          <a:prstGeom prst="rect">
            <a:avLst/>
          </a:prstGeom>
          <a:noFill/>
          <a:ln/>
        </p:spPr>
        <p:txBody>
          <a:bodyPr wrap="square" lIns="0" tIns="0" rIns="0" bIns="0" rtlCol="0" anchor="ctr"/>
          <a:lstStyle/>
          <a:p>
            <a:pPr indent="0" marL="0">
              <a:buNone/>
            </a:pPr>
            <a:r>
              <a:rPr lang="en-US" sz="2000" b="1" dirty="0">
                <a:solidFill>
                  <a:srgbClr val="1A2230"/>
                </a:solidFill>
                <a:latin typeface="Bookman Old Style" pitchFamily="34" charset="0"/>
                <a:ea typeface="Bookman Old Style" pitchFamily="34" charset="-122"/>
                <a:cs typeface="Bookman Old Style" pitchFamily="34" charset="-120"/>
              </a:rPr>
              <a:t>Enterprise base</a:t>
            </a:r>
            <a:endParaRPr lang="en-US" sz="2000" dirty="0"/>
          </a:p>
        </p:txBody>
      </p:sp>
      <p:sp>
        <p:nvSpPr>
          <p:cNvPr id="19" name="Text 14"/>
          <p:cNvSpPr/>
          <p:nvPr/>
        </p:nvSpPr>
        <p:spPr>
          <a:xfrm>
            <a:off x="8686800" y="4754880"/>
            <a:ext cx="2697480" cy="960120"/>
          </a:xfrm>
          <a:prstGeom prst="rect">
            <a:avLst/>
          </a:prstGeom>
          <a:noFill/>
          <a:ln/>
        </p:spPr>
        <p:txBody>
          <a:bodyPr wrap="square" lIns="0" tIns="0" rIns="0" bIns="0" rtlCol="0" anchor="ctr"/>
          <a:lstStyle/>
          <a:p>
            <a:pPr indent="0" marL="0">
              <a:lnSpc>
                <a:spcPts val="2000"/>
              </a:lnSpc>
              <a:buNone/>
            </a:pPr>
            <a:r>
              <a:rPr lang="en-US" sz="1450" dirty="0">
                <a:solidFill>
                  <a:srgbClr val="5C6B7E"/>
                </a:solidFill>
                <a:latin typeface="Calibri" pitchFamily="34" charset="0"/>
                <a:ea typeface="Calibri" pitchFamily="34" charset="-122"/>
                <a:cs typeface="Calibri" pitchFamily="34" charset="-120"/>
              </a:rPr>
              <a:t>AlmaLinux stability under the hood, without the rigid friction studios usually fight.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822960" y="594360"/>
            <a:ext cx="5486400" cy="274320"/>
          </a:xfrm>
          <a:prstGeom prst="rect">
            <a:avLst/>
          </a:prstGeom>
          <a:noFill/>
          <a:ln/>
        </p:spPr>
        <p:txBody>
          <a:bodyPr wrap="square" lIns="0" tIns="0" rIns="0" bIns="0" rtlCol="0" anchor="ctr"/>
          <a:lstStyle/>
          <a:p>
            <a:pPr algn="l" indent="0" marL="0">
              <a:buNone/>
            </a:pPr>
            <a:r>
              <a:rPr lang="en-US" sz="1200" b="1" spc="300" kern="0" dirty="0">
                <a:solidFill>
                  <a:srgbClr val="16C98D"/>
                </a:solidFill>
                <a:latin typeface="Calibri" pitchFamily="34" charset="0"/>
                <a:ea typeface="Calibri" pitchFamily="34" charset="-122"/>
                <a:cs typeface="Calibri" pitchFamily="34" charset="-120"/>
              </a:rPr>
              <a:t>WHAT WE'LL COVER</a:t>
            </a:r>
            <a:endParaRPr lang="en-US" sz="1200" dirty="0"/>
          </a:p>
        </p:txBody>
      </p:sp>
      <p:sp>
        <p:nvSpPr>
          <p:cNvPr id="3" name="Text 1"/>
          <p:cNvSpPr/>
          <p:nvPr/>
        </p:nvSpPr>
        <p:spPr>
          <a:xfrm>
            <a:off x="822960" y="868680"/>
            <a:ext cx="10515600" cy="822960"/>
          </a:xfrm>
          <a:prstGeom prst="rect">
            <a:avLst/>
          </a:prstGeom>
          <a:noFill/>
          <a:ln/>
        </p:spPr>
        <p:txBody>
          <a:bodyPr wrap="square" lIns="0" tIns="0" rIns="0" bIns="0" rtlCol="0" anchor="ctr"/>
          <a:lstStyle/>
          <a:p>
            <a:pPr indent="0" marL="0">
              <a:buNone/>
            </a:pPr>
            <a:r>
              <a:rPr lang="en-US" sz="3600" b="1" dirty="0">
                <a:solidFill>
                  <a:srgbClr val="F4F6F9"/>
                </a:solidFill>
                <a:latin typeface="Bookman Old Style" pitchFamily="34" charset="0"/>
                <a:ea typeface="Bookman Old Style" pitchFamily="34" charset="-122"/>
                <a:cs typeface="Bookman Old Style" pitchFamily="34" charset="-120"/>
              </a:rPr>
              <a:t>One year, in six parts</a:t>
            </a:r>
            <a:endParaRPr lang="en-US" sz="3600" dirty="0"/>
          </a:p>
        </p:txBody>
      </p:sp>
      <p:sp>
        <p:nvSpPr>
          <p:cNvPr id="4" name="Shape 2"/>
          <p:cNvSpPr/>
          <p:nvPr/>
        </p:nvSpPr>
        <p:spPr>
          <a:xfrm>
            <a:off x="822960" y="2011680"/>
            <a:ext cx="3429000" cy="1554480"/>
          </a:xfrm>
          <a:prstGeom prst="roundRect">
            <a:avLst>
              <a:gd name="adj" fmla="val 5882"/>
            </a:avLst>
          </a:prstGeom>
          <a:solidFill>
            <a:srgbClr val="171C24"/>
          </a:solidFill>
          <a:ln/>
          <a:effectLst>
            <a:outerShdw sx="100000" sy="100000" kx="0" ky="0" algn="bl" rotWithShape="0" blurRad="88900" dist="38100" dir="5400000">
              <a:srgbClr val="000000">
                <a:alpha val="30000"/>
              </a:srgbClr>
            </a:outerShdw>
          </a:effectLst>
        </p:spPr>
      </p:sp>
      <p:sp>
        <p:nvSpPr>
          <p:cNvPr id="5" name="Text 3"/>
          <p:cNvSpPr/>
          <p:nvPr/>
        </p:nvSpPr>
        <p:spPr>
          <a:xfrm>
            <a:off x="1143000" y="2240280"/>
            <a:ext cx="1188720" cy="502920"/>
          </a:xfrm>
          <a:prstGeom prst="rect">
            <a:avLst/>
          </a:prstGeom>
          <a:noFill/>
          <a:ln/>
        </p:spPr>
        <p:txBody>
          <a:bodyPr wrap="square" lIns="0" tIns="0" rIns="0" bIns="0" rtlCol="0" anchor="ctr"/>
          <a:lstStyle/>
          <a:p>
            <a:pPr indent="0" marL="0">
              <a:buNone/>
            </a:pPr>
            <a:r>
              <a:rPr lang="en-US" sz="2600" b="1" dirty="0">
                <a:solidFill>
                  <a:srgbClr val="3DA9FC"/>
                </a:solidFill>
                <a:latin typeface="Bookman Old Style" pitchFamily="34" charset="0"/>
                <a:ea typeface="Bookman Old Style" pitchFamily="34" charset="-122"/>
                <a:cs typeface="Bookman Old Style" pitchFamily="34" charset="-120"/>
              </a:rPr>
              <a:t>01</a:t>
            </a:r>
            <a:endParaRPr lang="en-US" sz="2600" dirty="0"/>
          </a:p>
        </p:txBody>
      </p:sp>
      <p:sp>
        <p:nvSpPr>
          <p:cNvPr id="6" name="Text 4"/>
          <p:cNvSpPr/>
          <p:nvPr/>
        </p:nvSpPr>
        <p:spPr>
          <a:xfrm>
            <a:off x="1143000" y="2724912"/>
            <a:ext cx="2788920" cy="365760"/>
          </a:xfrm>
          <a:prstGeom prst="rect">
            <a:avLst/>
          </a:prstGeom>
          <a:noFill/>
          <a:ln/>
        </p:spPr>
        <p:txBody>
          <a:bodyPr wrap="square" lIns="0" tIns="0" rIns="0" bIns="0" rtlCol="0" anchor="ctr"/>
          <a:lstStyle/>
          <a:p>
            <a:pPr indent="0" marL="0">
              <a:buNone/>
            </a:pPr>
            <a:r>
              <a:rPr lang="en-US" sz="1700" b="1" dirty="0">
                <a:solidFill>
                  <a:srgbClr val="F4F6F9"/>
                </a:solidFill>
                <a:latin typeface="Bookman Old Style" pitchFamily="34" charset="0"/>
                <a:ea typeface="Bookman Old Style" pitchFamily="34" charset="-122"/>
                <a:cs typeface="Bookman Old Style" pitchFamily="34" charset="-120"/>
              </a:rPr>
              <a:t>Where we came from</a:t>
            </a:r>
            <a:endParaRPr lang="en-US" sz="1700" dirty="0"/>
          </a:p>
        </p:txBody>
      </p:sp>
      <p:sp>
        <p:nvSpPr>
          <p:cNvPr id="7" name="Text 5"/>
          <p:cNvSpPr/>
          <p:nvPr/>
        </p:nvSpPr>
        <p:spPr>
          <a:xfrm>
            <a:off x="1143000" y="3063240"/>
            <a:ext cx="2788920" cy="457200"/>
          </a:xfrm>
          <a:prstGeom prst="rect">
            <a:avLst/>
          </a:prstGeom>
          <a:noFill/>
          <a:ln/>
        </p:spPr>
        <p:txBody>
          <a:bodyPr wrap="square" lIns="0" tIns="0" rIns="0" bIns="0" rtlCol="0" anchor="ctr"/>
          <a:lstStyle/>
          <a:p>
            <a:pPr indent="0" marL="0">
              <a:lnSpc>
                <a:spcPts val="1700"/>
              </a:lnSpc>
              <a:buNone/>
            </a:pPr>
            <a:r>
              <a:rPr lang="en-US" sz="1300" dirty="0">
                <a:solidFill>
                  <a:srgbClr val="9AA7B8"/>
                </a:solidFill>
                <a:latin typeface="Calibri" pitchFamily="34" charset="0"/>
                <a:ea typeface="Calibri" pitchFamily="34" charset="-122"/>
                <a:cs typeface="Calibri" pitchFamily="34" charset="-120"/>
              </a:rPr>
              <a:t>SIGGRAPH origins and the studio-pipeline gap.</a:t>
            </a:r>
            <a:endParaRPr lang="en-US" sz="1300" dirty="0"/>
          </a:p>
        </p:txBody>
      </p:sp>
      <p:sp>
        <p:nvSpPr>
          <p:cNvPr id="8" name="Shape 6"/>
          <p:cNvSpPr/>
          <p:nvPr/>
        </p:nvSpPr>
        <p:spPr>
          <a:xfrm>
            <a:off x="4572000" y="2011680"/>
            <a:ext cx="3429000" cy="1554480"/>
          </a:xfrm>
          <a:prstGeom prst="roundRect">
            <a:avLst>
              <a:gd name="adj" fmla="val 5882"/>
            </a:avLst>
          </a:prstGeom>
          <a:solidFill>
            <a:srgbClr val="171C24"/>
          </a:solidFill>
          <a:ln/>
          <a:effectLst>
            <a:outerShdw sx="100000" sy="100000" kx="0" ky="0" algn="bl" rotWithShape="0" blurRad="88900" dist="38100" dir="5400000">
              <a:srgbClr val="000000">
                <a:alpha val="30000"/>
              </a:srgbClr>
            </a:outerShdw>
          </a:effectLst>
        </p:spPr>
      </p:sp>
      <p:sp>
        <p:nvSpPr>
          <p:cNvPr id="9" name="Text 7"/>
          <p:cNvSpPr/>
          <p:nvPr/>
        </p:nvSpPr>
        <p:spPr>
          <a:xfrm>
            <a:off x="4892040" y="2240280"/>
            <a:ext cx="1188720" cy="502920"/>
          </a:xfrm>
          <a:prstGeom prst="rect">
            <a:avLst/>
          </a:prstGeom>
          <a:noFill/>
          <a:ln/>
        </p:spPr>
        <p:txBody>
          <a:bodyPr wrap="square" lIns="0" tIns="0" rIns="0" bIns="0" rtlCol="0" anchor="ctr"/>
          <a:lstStyle/>
          <a:p>
            <a:pPr indent="0" marL="0">
              <a:buNone/>
            </a:pPr>
            <a:r>
              <a:rPr lang="en-US" sz="2600" b="1" dirty="0">
                <a:solidFill>
                  <a:srgbClr val="F5A623"/>
                </a:solidFill>
                <a:latin typeface="Bookman Old Style" pitchFamily="34" charset="0"/>
                <a:ea typeface="Bookman Old Style" pitchFamily="34" charset="-122"/>
                <a:cs typeface="Bookman Old Style" pitchFamily="34" charset="-120"/>
              </a:rPr>
              <a:t>02</a:t>
            </a:r>
            <a:endParaRPr lang="en-US" sz="2600" dirty="0"/>
          </a:p>
        </p:txBody>
      </p:sp>
      <p:sp>
        <p:nvSpPr>
          <p:cNvPr id="10" name="Text 8"/>
          <p:cNvSpPr/>
          <p:nvPr/>
        </p:nvSpPr>
        <p:spPr>
          <a:xfrm>
            <a:off x="4892040" y="2724912"/>
            <a:ext cx="2788920" cy="365760"/>
          </a:xfrm>
          <a:prstGeom prst="rect">
            <a:avLst/>
          </a:prstGeom>
          <a:noFill/>
          <a:ln/>
        </p:spPr>
        <p:txBody>
          <a:bodyPr wrap="square" lIns="0" tIns="0" rIns="0" bIns="0" rtlCol="0" anchor="ctr"/>
          <a:lstStyle/>
          <a:p>
            <a:pPr indent="0" marL="0">
              <a:buNone/>
            </a:pPr>
            <a:r>
              <a:rPr lang="en-US" sz="1700" b="1" dirty="0">
                <a:solidFill>
                  <a:srgbClr val="F4F6F9"/>
                </a:solidFill>
                <a:latin typeface="Bookman Old Style" pitchFamily="34" charset="0"/>
                <a:ea typeface="Bookman Old Style" pitchFamily="34" charset="-122"/>
                <a:cs typeface="Bookman Old Style" pitchFamily="34" charset="-120"/>
              </a:rPr>
              <a:t>The testing year</a:t>
            </a:r>
            <a:endParaRPr lang="en-US" sz="1700" dirty="0"/>
          </a:p>
        </p:txBody>
      </p:sp>
      <p:sp>
        <p:nvSpPr>
          <p:cNvPr id="11" name="Text 9"/>
          <p:cNvSpPr/>
          <p:nvPr/>
        </p:nvSpPr>
        <p:spPr>
          <a:xfrm>
            <a:off x="4892040" y="3063240"/>
            <a:ext cx="2788920" cy="457200"/>
          </a:xfrm>
          <a:prstGeom prst="rect">
            <a:avLst/>
          </a:prstGeom>
          <a:noFill/>
          <a:ln/>
        </p:spPr>
        <p:txBody>
          <a:bodyPr wrap="square" lIns="0" tIns="0" rIns="0" bIns="0" rtlCol="0" anchor="ctr"/>
          <a:lstStyle/>
          <a:p>
            <a:pPr indent="0" marL="0">
              <a:lnSpc>
                <a:spcPts val="1700"/>
              </a:lnSpc>
              <a:buNone/>
            </a:pPr>
            <a:r>
              <a:rPr lang="en-US" sz="1300" dirty="0">
                <a:solidFill>
                  <a:srgbClr val="9AA7B8"/>
                </a:solidFill>
                <a:latin typeface="Calibri" pitchFamily="34" charset="0"/>
                <a:ea typeface="Calibri" pitchFamily="34" charset="-122"/>
                <a:cs typeface="Calibri" pitchFamily="34" charset="-120"/>
              </a:rPr>
              <a:t>AlmaLinux 10, Wayland, and remote desktop — one year of validation.</a:t>
            </a:r>
            <a:endParaRPr lang="en-US" sz="1300" dirty="0"/>
          </a:p>
        </p:txBody>
      </p:sp>
      <p:sp>
        <p:nvSpPr>
          <p:cNvPr id="12" name="Shape 10"/>
          <p:cNvSpPr/>
          <p:nvPr/>
        </p:nvSpPr>
        <p:spPr>
          <a:xfrm>
            <a:off x="8321040" y="2011680"/>
            <a:ext cx="3429000" cy="1554480"/>
          </a:xfrm>
          <a:prstGeom prst="roundRect">
            <a:avLst>
              <a:gd name="adj" fmla="val 5882"/>
            </a:avLst>
          </a:prstGeom>
          <a:solidFill>
            <a:srgbClr val="171C24"/>
          </a:solidFill>
          <a:ln/>
          <a:effectLst>
            <a:outerShdw sx="100000" sy="100000" kx="0" ky="0" algn="bl" rotWithShape="0" blurRad="88900" dist="38100" dir="5400000">
              <a:srgbClr val="000000">
                <a:alpha val="30000"/>
              </a:srgbClr>
            </a:outerShdw>
          </a:effectLst>
        </p:spPr>
      </p:sp>
      <p:sp>
        <p:nvSpPr>
          <p:cNvPr id="13" name="Text 11"/>
          <p:cNvSpPr/>
          <p:nvPr/>
        </p:nvSpPr>
        <p:spPr>
          <a:xfrm>
            <a:off x="8641080" y="2240280"/>
            <a:ext cx="1188720" cy="502920"/>
          </a:xfrm>
          <a:prstGeom prst="rect">
            <a:avLst/>
          </a:prstGeom>
          <a:noFill/>
          <a:ln/>
        </p:spPr>
        <p:txBody>
          <a:bodyPr wrap="square" lIns="0" tIns="0" rIns="0" bIns="0" rtlCol="0" anchor="ctr"/>
          <a:lstStyle/>
          <a:p>
            <a:pPr indent="0" marL="0">
              <a:buNone/>
            </a:pPr>
            <a:r>
              <a:rPr lang="en-US" sz="2600" b="1" dirty="0">
                <a:solidFill>
                  <a:srgbClr val="16C98D"/>
                </a:solidFill>
                <a:latin typeface="Bookman Old Style" pitchFamily="34" charset="0"/>
                <a:ea typeface="Bookman Old Style" pitchFamily="34" charset="-122"/>
                <a:cs typeface="Bookman Old Style" pitchFamily="34" charset="-120"/>
              </a:rPr>
              <a:t>03</a:t>
            </a:r>
            <a:endParaRPr lang="en-US" sz="2600" dirty="0"/>
          </a:p>
        </p:txBody>
      </p:sp>
      <p:sp>
        <p:nvSpPr>
          <p:cNvPr id="14" name="Text 12"/>
          <p:cNvSpPr/>
          <p:nvPr/>
        </p:nvSpPr>
        <p:spPr>
          <a:xfrm>
            <a:off x="8641080" y="2724912"/>
            <a:ext cx="2788920" cy="365760"/>
          </a:xfrm>
          <a:prstGeom prst="rect">
            <a:avLst/>
          </a:prstGeom>
          <a:noFill/>
          <a:ln/>
        </p:spPr>
        <p:txBody>
          <a:bodyPr wrap="square" lIns="0" tIns="0" rIns="0" bIns="0" rtlCol="0" anchor="ctr"/>
          <a:lstStyle/>
          <a:p>
            <a:pPr indent="0" marL="0">
              <a:buNone/>
            </a:pPr>
            <a:r>
              <a:rPr lang="en-US" sz="1700" b="1" dirty="0">
                <a:solidFill>
                  <a:srgbClr val="F4F6F9"/>
                </a:solidFill>
                <a:latin typeface="Bookman Old Style" pitchFamily="34" charset="0"/>
                <a:ea typeface="Bookman Old Style" pitchFamily="34" charset="-122"/>
                <a:cs typeface="Bookman Old Style" pitchFamily="34" charset="-120"/>
              </a:rPr>
              <a:t>Wayland deep dive</a:t>
            </a:r>
            <a:endParaRPr lang="en-US" sz="1700" dirty="0"/>
          </a:p>
        </p:txBody>
      </p:sp>
      <p:sp>
        <p:nvSpPr>
          <p:cNvPr id="15" name="Text 13"/>
          <p:cNvSpPr/>
          <p:nvPr/>
        </p:nvSpPr>
        <p:spPr>
          <a:xfrm>
            <a:off x="8641080" y="3063240"/>
            <a:ext cx="2788920" cy="457200"/>
          </a:xfrm>
          <a:prstGeom prst="rect">
            <a:avLst/>
          </a:prstGeom>
          <a:noFill/>
          <a:ln/>
        </p:spPr>
        <p:txBody>
          <a:bodyPr wrap="square" lIns="0" tIns="0" rIns="0" bIns="0" rtlCol="0" anchor="ctr"/>
          <a:lstStyle/>
          <a:p>
            <a:pPr indent="0" marL="0">
              <a:lnSpc>
                <a:spcPts val="1700"/>
              </a:lnSpc>
              <a:buNone/>
            </a:pPr>
            <a:r>
              <a:rPr lang="en-US" sz="1300" dirty="0">
                <a:solidFill>
                  <a:srgbClr val="9AA7B8"/>
                </a:solidFill>
                <a:latin typeface="Calibri" pitchFamily="34" charset="0"/>
                <a:ea typeface="Calibri" pitchFamily="34" charset="-122"/>
                <a:cs typeface="Calibri" pitchFamily="34" charset="-120"/>
              </a:rPr>
              <a:t>Color accuracy, low latency, and the isolation tradeoffs.</a:t>
            </a:r>
            <a:endParaRPr lang="en-US" sz="1300" dirty="0"/>
          </a:p>
        </p:txBody>
      </p:sp>
      <p:sp>
        <p:nvSpPr>
          <p:cNvPr id="16" name="Shape 14"/>
          <p:cNvSpPr/>
          <p:nvPr/>
        </p:nvSpPr>
        <p:spPr>
          <a:xfrm>
            <a:off x="822960" y="3840480"/>
            <a:ext cx="3429000" cy="1554480"/>
          </a:xfrm>
          <a:prstGeom prst="roundRect">
            <a:avLst>
              <a:gd name="adj" fmla="val 5882"/>
            </a:avLst>
          </a:prstGeom>
          <a:solidFill>
            <a:srgbClr val="171C24"/>
          </a:solidFill>
          <a:ln/>
          <a:effectLst>
            <a:outerShdw sx="100000" sy="100000" kx="0" ky="0" algn="bl" rotWithShape="0" blurRad="88900" dist="38100" dir="5400000">
              <a:srgbClr val="000000">
                <a:alpha val="30000"/>
              </a:srgbClr>
            </a:outerShdw>
          </a:effectLst>
        </p:spPr>
      </p:sp>
      <p:sp>
        <p:nvSpPr>
          <p:cNvPr id="17" name="Text 15"/>
          <p:cNvSpPr/>
          <p:nvPr/>
        </p:nvSpPr>
        <p:spPr>
          <a:xfrm>
            <a:off x="1143000" y="4069080"/>
            <a:ext cx="1188720" cy="502920"/>
          </a:xfrm>
          <a:prstGeom prst="rect">
            <a:avLst/>
          </a:prstGeom>
          <a:noFill/>
          <a:ln/>
        </p:spPr>
        <p:txBody>
          <a:bodyPr wrap="square" lIns="0" tIns="0" rIns="0" bIns="0" rtlCol="0" anchor="ctr"/>
          <a:lstStyle/>
          <a:p>
            <a:pPr indent="0" marL="0">
              <a:buNone/>
            </a:pPr>
            <a:r>
              <a:rPr lang="en-US" sz="2600" b="1" dirty="0">
                <a:solidFill>
                  <a:srgbClr val="3DA9FC"/>
                </a:solidFill>
                <a:latin typeface="Bookman Old Style" pitchFamily="34" charset="0"/>
                <a:ea typeface="Bookman Old Style" pitchFamily="34" charset="-122"/>
                <a:cs typeface="Bookman Old Style" pitchFamily="34" charset="-120"/>
              </a:rPr>
              <a:t>04</a:t>
            </a:r>
            <a:endParaRPr lang="en-US" sz="2600" dirty="0"/>
          </a:p>
        </p:txBody>
      </p:sp>
      <p:sp>
        <p:nvSpPr>
          <p:cNvPr id="18" name="Text 16"/>
          <p:cNvSpPr/>
          <p:nvPr/>
        </p:nvSpPr>
        <p:spPr>
          <a:xfrm>
            <a:off x="1143000" y="4553712"/>
            <a:ext cx="2788920" cy="365760"/>
          </a:xfrm>
          <a:prstGeom prst="rect">
            <a:avLst/>
          </a:prstGeom>
          <a:noFill/>
          <a:ln/>
        </p:spPr>
        <p:txBody>
          <a:bodyPr wrap="square" lIns="0" tIns="0" rIns="0" bIns="0" rtlCol="0" anchor="ctr"/>
          <a:lstStyle/>
          <a:p>
            <a:pPr indent="0" marL="0">
              <a:buNone/>
            </a:pPr>
            <a:r>
              <a:rPr lang="en-US" sz="1700" b="1" dirty="0">
                <a:solidFill>
                  <a:srgbClr val="F4F6F9"/>
                </a:solidFill>
                <a:latin typeface="Bookman Old Style" pitchFamily="34" charset="0"/>
                <a:ea typeface="Bookman Old Style" pitchFamily="34" charset="-122"/>
                <a:cs typeface="Bookman Old Style" pitchFamily="34" charset="-120"/>
              </a:rPr>
              <a:t>Remote desktop</a:t>
            </a:r>
            <a:endParaRPr lang="en-US" sz="1700" dirty="0"/>
          </a:p>
        </p:txBody>
      </p:sp>
      <p:sp>
        <p:nvSpPr>
          <p:cNvPr id="19" name="Text 17"/>
          <p:cNvSpPr/>
          <p:nvPr/>
        </p:nvSpPr>
        <p:spPr>
          <a:xfrm>
            <a:off x="1143000" y="4892040"/>
            <a:ext cx="2788920" cy="457200"/>
          </a:xfrm>
          <a:prstGeom prst="rect">
            <a:avLst/>
          </a:prstGeom>
          <a:noFill/>
          <a:ln/>
        </p:spPr>
        <p:txBody>
          <a:bodyPr wrap="square" lIns="0" tIns="0" rIns="0" bIns="0" rtlCol="0" anchor="ctr"/>
          <a:lstStyle/>
          <a:p>
            <a:pPr indent="0" marL="0">
              <a:lnSpc>
                <a:spcPts val="1700"/>
              </a:lnSpc>
              <a:buNone/>
            </a:pPr>
            <a:r>
              <a:rPr lang="en-US" sz="1300" dirty="0">
                <a:solidFill>
                  <a:srgbClr val="9AA7B8"/>
                </a:solidFill>
                <a:latin typeface="Calibri" pitchFamily="34" charset="0"/>
                <a:ea typeface="Calibri" pitchFamily="34" charset="-122"/>
                <a:cs typeface="Calibri" pitchFamily="34" charset="-120"/>
              </a:rPr>
              <a:t>The render host, encode/stream, and the artist endpoint.</a:t>
            </a:r>
            <a:endParaRPr lang="en-US" sz="1300" dirty="0"/>
          </a:p>
        </p:txBody>
      </p:sp>
      <p:sp>
        <p:nvSpPr>
          <p:cNvPr id="20" name="Shape 18"/>
          <p:cNvSpPr/>
          <p:nvPr/>
        </p:nvSpPr>
        <p:spPr>
          <a:xfrm>
            <a:off x="4572000" y="3840480"/>
            <a:ext cx="3429000" cy="1554480"/>
          </a:xfrm>
          <a:prstGeom prst="roundRect">
            <a:avLst>
              <a:gd name="adj" fmla="val 5882"/>
            </a:avLst>
          </a:prstGeom>
          <a:solidFill>
            <a:srgbClr val="171C24"/>
          </a:solidFill>
          <a:ln/>
          <a:effectLst>
            <a:outerShdw sx="100000" sy="100000" kx="0" ky="0" algn="bl" rotWithShape="0" blurRad="88900" dist="38100" dir="5400000">
              <a:srgbClr val="000000">
                <a:alpha val="30000"/>
              </a:srgbClr>
            </a:outerShdw>
          </a:effectLst>
        </p:spPr>
      </p:sp>
      <p:sp>
        <p:nvSpPr>
          <p:cNvPr id="21" name="Text 19"/>
          <p:cNvSpPr/>
          <p:nvPr/>
        </p:nvSpPr>
        <p:spPr>
          <a:xfrm>
            <a:off x="4892040" y="4069080"/>
            <a:ext cx="1188720" cy="502920"/>
          </a:xfrm>
          <a:prstGeom prst="rect">
            <a:avLst/>
          </a:prstGeom>
          <a:noFill/>
          <a:ln/>
        </p:spPr>
        <p:txBody>
          <a:bodyPr wrap="square" lIns="0" tIns="0" rIns="0" bIns="0" rtlCol="0" anchor="ctr"/>
          <a:lstStyle/>
          <a:p>
            <a:pPr indent="0" marL="0">
              <a:buNone/>
            </a:pPr>
            <a:r>
              <a:rPr lang="en-US" sz="2600" b="1" dirty="0">
                <a:solidFill>
                  <a:srgbClr val="F5A623"/>
                </a:solidFill>
                <a:latin typeface="Bookman Old Style" pitchFamily="34" charset="0"/>
                <a:ea typeface="Bookman Old Style" pitchFamily="34" charset="-122"/>
                <a:cs typeface="Bookman Old Style" pitchFamily="34" charset="-120"/>
              </a:rPr>
              <a:t>05</a:t>
            </a:r>
            <a:endParaRPr lang="en-US" sz="2600" dirty="0"/>
          </a:p>
        </p:txBody>
      </p:sp>
      <p:sp>
        <p:nvSpPr>
          <p:cNvPr id="22" name="Text 20"/>
          <p:cNvSpPr/>
          <p:nvPr/>
        </p:nvSpPr>
        <p:spPr>
          <a:xfrm>
            <a:off x="4892040" y="4553712"/>
            <a:ext cx="2788920" cy="365760"/>
          </a:xfrm>
          <a:prstGeom prst="rect">
            <a:avLst/>
          </a:prstGeom>
          <a:noFill/>
          <a:ln/>
        </p:spPr>
        <p:txBody>
          <a:bodyPr wrap="square" lIns="0" tIns="0" rIns="0" bIns="0" rtlCol="0" anchor="ctr"/>
          <a:lstStyle/>
          <a:p>
            <a:pPr indent="0" marL="0">
              <a:buNone/>
            </a:pPr>
            <a:r>
              <a:rPr lang="en-US" sz="1700" b="1" dirty="0">
                <a:solidFill>
                  <a:srgbClr val="F4F6F9"/>
                </a:solidFill>
                <a:latin typeface="Bookman Old Style" pitchFamily="34" charset="0"/>
                <a:ea typeface="Bookman Old Style" pitchFamily="34" charset="-122"/>
                <a:cs typeface="Bookman Old Style" pitchFamily="34" charset="-120"/>
              </a:rPr>
              <a:t>The hardware catalog</a:t>
            </a:r>
            <a:endParaRPr lang="en-US" sz="1700" dirty="0"/>
          </a:p>
        </p:txBody>
      </p:sp>
      <p:sp>
        <p:nvSpPr>
          <p:cNvPr id="23" name="Text 21"/>
          <p:cNvSpPr/>
          <p:nvPr/>
        </p:nvSpPr>
        <p:spPr>
          <a:xfrm>
            <a:off x="4892040" y="4892040"/>
            <a:ext cx="2788920" cy="457200"/>
          </a:xfrm>
          <a:prstGeom prst="rect">
            <a:avLst/>
          </a:prstGeom>
          <a:noFill/>
          <a:ln/>
        </p:spPr>
        <p:txBody>
          <a:bodyPr wrap="square" lIns="0" tIns="0" rIns="0" bIns="0" rtlCol="0" anchor="ctr"/>
          <a:lstStyle/>
          <a:p>
            <a:pPr indent="0" marL="0">
              <a:lnSpc>
                <a:spcPts val="1700"/>
              </a:lnSpc>
              <a:buNone/>
            </a:pPr>
            <a:r>
              <a:rPr lang="en-US" sz="1300" dirty="0">
                <a:solidFill>
                  <a:srgbClr val="9AA7B8"/>
                </a:solidFill>
                <a:latin typeface="Calibri" pitchFamily="34" charset="0"/>
                <a:ea typeface="Calibri" pitchFamily="34" charset="-122"/>
                <a:cs typeface="Calibri" pitchFamily="34" charset="-120"/>
              </a:rPr>
              <a:t>Crowdsourced reports, published and searchable in a minute.</a:t>
            </a:r>
            <a:endParaRPr lang="en-US" sz="1300" dirty="0"/>
          </a:p>
        </p:txBody>
      </p:sp>
      <p:sp>
        <p:nvSpPr>
          <p:cNvPr id="24" name="Shape 22"/>
          <p:cNvSpPr/>
          <p:nvPr/>
        </p:nvSpPr>
        <p:spPr>
          <a:xfrm>
            <a:off x="8321040" y="3840480"/>
            <a:ext cx="3429000" cy="1554480"/>
          </a:xfrm>
          <a:prstGeom prst="roundRect">
            <a:avLst>
              <a:gd name="adj" fmla="val 5882"/>
            </a:avLst>
          </a:prstGeom>
          <a:solidFill>
            <a:srgbClr val="171C24"/>
          </a:solidFill>
          <a:ln/>
          <a:effectLst>
            <a:outerShdw sx="100000" sy="100000" kx="0" ky="0" algn="bl" rotWithShape="0" blurRad="88900" dist="38100" dir="5400000">
              <a:srgbClr val="000000">
                <a:alpha val="30000"/>
              </a:srgbClr>
            </a:outerShdw>
          </a:effectLst>
        </p:spPr>
      </p:sp>
      <p:sp>
        <p:nvSpPr>
          <p:cNvPr id="25" name="Text 23"/>
          <p:cNvSpPr/>
          <p:nvPr/>
        </p:nvSpPr>
        <p:spPr>
          <a:xfrm>
            <a:off x="8641080" y="4069080"/>
            <a:ext cx="1188720" cy="502920"/>
          </a:xfrm>
          <a:prstGeom prst="rect">
            <a:avLst/>
          </a:prstGeom>
          <a:noFill/>
          <a:ln/>
        </p:spPr>
        <p:txBody>
          <a:bodyPr wrap="square" lIns="0" tIns="0" rIns="0" bIns="0" rtlCol="0" anchor="ctr"/>
          <a:lstStyle/>
          <a:p>
            <a:pPr indent="0" marL="0">
              <a:buNone/>
            </a:pPr>
            <a:r>
              <a:rPr lang="en-US" sz="2600" b="1" dirty="0">
                <a:solidFill>
                  <a:srgbClr val="16C98D"/>
                </a:solidFill>
                <a:latin typeface="Bookman Old Style" pitchFamily="34" charset="0"/>
                <a:ea typeface="Bookman Old Style" pitchFamily="34" charset="-122"/>
                <a:cs typeface="Bookman Old Style" pitchFamily="34" charset="-120"/>
              </a:rPr>
              <a:t>06</a:t>
            </a:r>
            <a:endParaRPr lang="en-US" sz="2600" dirty="0"/>
          </a:p>
        </p:txBody>
      </p:sp>
      <p:sp>
        <p:nvSpPr>
          <p:cNvPr id="26" name="Text 24"/>
          <p:cNvSpPr/>
          <p:nvPr/>
        </p:nvSpPr>
        <p:spPr>
          <a:xfrm>
            <a:off x="8641080" y="4553712"/>
            <a:ext cx="2788920" cy="365760"/>
          </a:xfrm>
          <a:prstGeom prst="rect">
            <a:avLst/>
          </a:prstGeom>
          <a:noFill/>
          <a:ln/>
        </p:spPr>
        <p:txBody>
          <a:bodyPr wrap="square" lIns="0" tIns="0" rIns="0" bIns="0" rtlCol="0" anchor="ctr"/>
          <a:lstStyle/>
          <a:p>
            <a:pPr indent="0" marL="0">
              <a:buNone/>
            </a:pPr>
            <a:r>
              <a:rPr lang="en-US" sz="1700" b="1" dirty="0">
                <a:solidFill>
                  <a:srgbClr val="F4F6F9"/>
                </a:solidFill>
                <a:latin typeface="Bookman Old Style" pitchFamily="34" charset="0"/>
                <a:ea typeface="Bookman Old Style" pitchFamily="34" charset="-122"/>
                <a:cs typeface="Bookman Old Style" pitchFamily="34" charset="-120"/>
              </a:rPr>
              <a:t>Roadmap &amp; how to help</a:t>
            </a:r>
            <a:endParaRPr lang="en-US" sz="1700" dirty="0"/>
          </a:p>
        </p:txBody>
      </p:sp>
      <p:sp>
        <p:nvSpPr>
          <p:cNvPr id="27" name="Text 25"/>
          <p:cNvSpPr/>
          <p:nvPr/>
        </p:nvSpPr>
        <p:spPr>
          <a:xfrm>
            <a:off x="8641080" y="4892040"/>
            <a:ext cx="2788920" cy="457200"/>
          </a:xfrm>
          <a:prstGeom prst="rect">
            <a:avLst/>
          </a:prstGeom>
          <a:noFill/>
          <a:ln/>
        </p:spPr>
        <p:txBody>
          <a:bodyPr wrap="square" lIns="0" tIns="0" rIns="0" bIns="0" rtlCol="0" anchor="ctr"/>
          <a:lstStyle/>
          <a:p>
            <a:pPr indent="0" marL="0">
              <a:lnSpc>
                <a:spcPts val="1700"/>
              </a:lnSpc>
              <a:buNone/>
            </a:pPr>
            <a:r>
              <a:rPr lang="en-US" sz="1300" dirty="0">
                <a:solidFill>
                  <a:srgbClr val="9AA7B8"/>
                </a:solidFill>
                <a:latin typeface="Calibri" pitchFamily="34" charset="0"/>
                <a:ea typeface="Calibri" pitchFamily="34" charset="-122"/>
                <a:cs typeface="Calibri" pitchFamily="34" charset="-120"/>
              </a:rPr>
              <a:t>What's next, and where you fit in.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822960" y="594360"/>
            <a:ext cx="5486400" cy="274320"/>
          </a:xfrm>
          <a:prstGeom prst="rect">
            <a:avLst/>
          </a:prstGeom>
          <a:noFill/>
          <a:ln/>
        </p:spPr>
        <p:txBody>
          <a:bodyPr wrap="square" lIns="0" tIns="0" rIns="0" bIns="0" rtlCol="0" anchor="ctr"/>
          <a:lstStyle/>
          <a:p>
            <a:pPr algn="l" indent="0" marL="0">
              <a:buNone/>
            </a:pPr>
            <a:r>
              <a:rPr lang="en-US" sz="1200" b="1" spc="300" kern="0" dirty="0">
                <a:solidFill>
                  <a:srgbClr val="16C98D"/>
                </a:solidFill>
                <a:latin typeface="Calibri" pitchFamily="34" charset="0"/>
                <a:ea typeface="Calibri" pitchFamily="34" charset="-122"/>
                <a:cs typeface="Calibri" pitchFamily="34" charset="-120"/>
              </a:rPr>
              <a:t>THE TECH STACK OF TOMORROW</a:t>
            </a:r>
            <a:endParaRPr lang="en-US" sz="1200" dirty="0"/>
          </a:p>
        </p:txBody>
      </p:sp>
      <p:sp>
        <p:nvSpPr>
          <p:cNvPr id="3" name="Text 1"/>
          <p:cNvSpPr/>
          <p:nvPr/>
        </p:nvSpPr>
        <p:spPr>
          <a:xfrm>
            <a:off x="822960" y="868680"/>
            <a:ext cx="10515600" cy="822960"/>
          </a:xfrm>
          <a:prstGeom prst="rect">
            <a:avLst/>
          </a:prstGeom>
          <a:noFill/>
          <a:ln/>
        </p:spPr>
        <p:txBody>
          <a:bodyPr wrap="square" lIns="0" tIns="0" rIns="0" bIns="0" rtlCol="0" anchor="ctr"/>
          <a:lstStyle/>
          <a:p>
            <a:pPr indent="0" marL="0">
              <a:buNone/>
            </a:pPr>
            <a:r>
              <a:rPr lang="en-US" sz="3600" b="1" dirty="0">
                <a:solidFill>
                  <a:srgbClr val="F4F6F9"/>
                </a:solidFill>
                <a:latin typeface="Bookman Old Style" pitchFamily="34" charset="0"/>
                <a:ea typeface="Bookman Old Style" pitchFamily="34" charset="-122"/>
                <a:cs typeface="Bookman Old Style" pitchFamily="34" charset="-120"/>
              </a:rPr>
              <a:t>Testing toward the next frontier</a:t>
            </a:r>
            <a:endParaRPr lang="en-US" sz="3600" dirty="0"/>
          </a:p>
        </p:txBody>
      </p:sp>
      <p:sp>
        <p:nvSpPr>
          <p:cNvPr id="4" name="Shape 2"/>
          <p:cNvSpPr/>
          <p:nvPr/>
        </p:nvSpPr>
        <p:spPr>
          <a:xfrm>
            <a:off x="822960" y="1965960"/>
            <a:ext cx="10515600" cy="1325880"/>
          </a:xfrm>
          <a:prstGeom prst="roundRect">
            <a:avLst>
              <a:gd name="adj" fmla="val 6897"/>
            </a:avLst>
          </a:prstGeom>
          <a:solidFill>
            <a:srgbClr val="171C24"/>
          </a:solidFill>
          <a:ln/>
          <a:effectLst>
            <a:outerShdw sx="100000" sy="100000" kx="0" ky="0" algn="bl" rotWithShape="0" blurRad="101600" dist="38100" dir="5400000">
              <a:srgbClr val="000000">
                <a:alpha val="30000"/>
              </a:srgbClr>
            </a:outerShdw>
          </a:effectLst>
        </p:spPr>
      </p:sp>
      <p:sp>
        <p:nvSpPr>
          <p:cNvPr id="5" name="Shape 3"/>
          <p:cNvSpPr/>
          <p:nvPr/>
        </p:nvSpPr>
        <p:spPr>
          <a:xfrm>
            <a:off x="1234440" y="2331720"/>
            <a:ext cx="594360" cy="594360"/>
          </a:xfrm>
          <a:prstGeom prst="ellipse">
            <a:avLst/>
          </a:prstGeom>
          <a:solidFill>
            <a:srgbClr val="1E2530"/>
          </a:solidFill>
          <a:ln/>
        </p:spPr>
      </p:sp>
      <p:pic>
        <p:nvPicPr>
          <p:cNvPr id="6" name="Image 0" descr="preencoded.png"/>
          <p:cNvPicPr>
            <a:picLocks noChangeAspect="1"/>
          </p:cNvPicPr>
          <p:nvPr/>
        </p:nvPicPr>
        <p:blipFill>
          <a:blip r:embed="rId1"/>
          <a:stretch>
            <a:fillRect/>
          </a:stretch>
        </p:blipFill>
        <p:spPr>
          <a:xfrm>
            <a:off x="1371600" y="2468880"/>
            <a:ext cx="320040" cy="320040"/>
          </a:xfrm>
          <a:prstGeom prst="rect">
            <a:avLst/>
          </a:prstGeom>
        </p:spPr>
      </p:pic>
      <p:sp>
        <p:nvSpPr>
          <p:cNvPr id="7" name="Text 4"/>
          <p:cNvSpPr/>
          <p:nvPr/>
        </p:nvSpPr>
        <p:spPr>
          <a:xfrm>
            <a:off x="2148840" y="2167128"/>
            <a:ext cx="8778240" cy="457200"/>
          </a:xfrm>
          <a:prstGeom prst="rect">
            <a:avLst/>
          </a:prstGeom>
          <a:noFill/>
          <a:ln/>
        </p:spPr>
        <p:txBody>
          <a:bodyPr wrap="square" lIns="0" tIns="0" rIns="0" bIns="0" rtlCol="0" anchor="ctr"/>
          <a:lstStyle/>
          <a:p>
            <a:pPr indent="0" marL="0">
              <a:buNone/>
            </a:pPr>
            <a:r>
              <a:rPr lang="en-US" sz="2100" b="1" dirty="0">
                <a:solidFill>
                  <a:srgbClr val="F4F6F9"/>
                </a:solidFill>
                <a:latin typeface="Bookman Old Style" pitchFamily="34" charset="0"/>
                <a:ea typeface="Bookman Old Style" pitchFamily="34" charset="-122"/>
                <a:cs typeface="Bookman Old Style" pitchFamily="34" charset="-120"/>
              </a:rPr>
              <a:t>AlmaLinux 10 + KDE Plasma</a:t>
            </a:r>
            <a:endParaRPr lang="en-US" sz="2100" dirty="0"/>
          </a:p>
        </p:txBody>
      </p:sp>
      <p:sp>
        <p:nvSpPr>
          <p:cNvPr id="8" name="Text 5"/>
          <p:cNvSpPr/>
          <p:nvPr/>
        </p:nvSpPr>
        <p:spPr>
          <a:xfrm>
            <a:off x="2148840" y="2642616"/>
            <a:ext cx="8869680" cy="502920"/>
          </a:xfrm>
          <a:prstGeom prst="rect">
            <a:avLst/>
          </a:prstGeom>
          <a:noFill/>
          <a:ln/>
        </p:spPr>
        <p:txBody>
          <a:bodyPr wrap="square" lIns="0" tIns="0" rIns="0" bIns="0" rtlCol="0" anchor="ctr"/>
          <a:lstStyle/>
          <a:p>
            <a:pPr indent="0" marL="0">
              <a:lnSpc>
                <a:spcPts val="1900"/>
              </a:lnSpc>
              <a:buNone/>
            </a:pPr>
            <a:r>
              <a:rPr lang="en-US" sz="1450" dirty="0">
                <a:solidFill>
                  <a:srgbClr val="9AA7B8"/>
                </a:solidFill>
                <a:latin typeface="Calibri" pitchFamily="34" charset="0"/>
                <a:ea typeface="Calibri" pitchFamily="34" charset="-122"/>
                <a:cs typeface="Calibri" pitchFamily="34" charset="-120"/>
              </a:rPr>
              <a:t>Comprehensive testing against the current enterprise base with a modern Plasma desktop.</a:t>
            </a:r>
            <a:endParaRPr lang="en-US" sz="1450" dirty="0"/>
          </a:p>
        </p:txBody>
      </p:sp>
      <p:sp>
        <p:nvSpPr>
          <p:cNvPr id="9" name="Shape 6"/>
          <p:cNvSpPr/>
          <p:nvPr/>
        </p:nvSpPr>
        <p:spPr>
          <a:xfrm>
            <a:off x="822960" y="3456432"/>
            <a:ext cx="10515600" cy="1325880"/>
          </a:xfrm>
          <a:prstGeom prst="roundRect">
            <a:avLst>
              <a:gd name="adj" fmla="val 6897"/>
            </a:avLst>
          </a:prstGeom>
          <a:solidFill>
            <a:srgbClr val="171C24"/>
          </a:solidFill>
          <a:ln/>
          <a:effectLst>
            <a:outerShdw sx="100000" sy="100000" kx="0" ky="0" algn="bl" rotWithShape="0" blurRad="101600" dist="38100" dir="5400000">
              <a:srgbClr val="000000">
                <a:alpha val="30000"/>
              </a:srgbClr>
            </a:outerShdw>
          </a:effectLst>
        </p:spPr>
      </p:sp>
      <p:sp>
        <p:nvSpPr>
          <p:cNvPr id="10" name="Shape 7"/>
          <p:cNvSpPr/>
          <p:nvPr/>
        </p:nvSpPr>
        <p:spPr>
          <a:xfrm>
            <a:off x="1234440" y="3822192"/>
            <a:ext cx="594360" cy="594360"/>
          </a:xfrm>
          <a:prstGeom prst="ellipse">
            <a:avLst/>
          </a:prstGeom>
          <a:solidFill>
            <a:srgbClr val="1E2530"/>
          </a:solidFill>
          <a:ln/>
        </p:spPr>
      </p:sp>
      <p:pic>
        <p:nvPicPr>
          <p:cNvPr id="11" name="Image 1" descr="preencoded.png"/>
          <p:cNvPicPr>
            <a:picLocks noChangeAspect="1"/>
          </p:cNvPicPr>
          <p:nvPr/>
        </p:nvPicPr>
        <p:blipFill>
          <a:blip r:embed="rId2"/>
          <a:stretch>
            <a:fillRect/>
          </a:stretch>
        </p:blipFill>
        <p:spPr>
          <a:xfrm>
            <a:off x="1371600" y="3959352"/>
            <a:ext cx="320040" cy="320040"/>
          </a:xfrm>
          <a:prstGeom prst="rect">
            <a:avLst/>
          </a:prstGeom>
        </p:spPr>
      </p:pic>
      <p:sp>
        <p:nvSpPr>
          <p:cNvPr id="12" name="Text 8"/>
          <p:cNvSpPr/>
          <p:nvPr/>
        </p:nvSpPr>
        <p:spPr>
          <a:xfrm>
            <a:off x="2148840" y="3657600"/>
            <a:ext cx="8778240" cy="457200"/>
          </a:xfrm>
          <a:prstGeom prst="rect">
            <a:avLst/>
          </a:prstGeom>
          <a:noFill/>
          <a:ln/>
        </p:spPr>
        <p:txBody>
          <a:bodyPr wrap="square" lIns="0" tIns="0" rIns="0" bIns="0" rtlCol="0" anchor="ctr"/>
          <a:lstStyle/>
          <a:p>
            <a:pPr indent="0" marL="0">
              <a:buNone/>
            </a:pPr>
            <a:r>
              <a:rPr lang="en-US" sz="2100" b="1" dirty="0">
                <a:solidFill>
                  <a:srgbClr val="F4F6F9"/>
                </a:solidFill>
                <a:latin typeface="Bookman Old Style" pitchFamily="34" charset="0"/>
                <a:ea typeface="Bookman Old Style" pitchFamily="34" charset="-122"/>
                <a:cs typeface="Bookman Old Style" pitchFamily="34" charset="-120"/>
              </a:rPr>
              <a:t>Wayland support</a:t>
            </a:r>
            <a:endParaRPr lang="en-US" sz="2100" dirty="0"/>
          </a:p>
        </p:txBody>
      </p:sp>
      <p:sp>
        <p:nvSpPr>
          <p:cNvPr id="13" name="Text 9"/>
          <p:cNvSpPr/>
          <p:nvPr/>
        </p:nvSpPr>
        <p:spPr>
          <a:xfrm>
            <a:off x="2148840" y="4133088"/>
            <a:ext cx="8869680" cy="502920"/>
          </a:xfrm>
          <a:prstGeom prst="rect">
            <a:avLst/>
          </a:prstGeom>
          <a:noFill/>
          <a:ln/>
        </p:spPr>
        <p:txBody>
          <a:bodyPr wrap="square" lIns="0" tIns="0" rIns="0" bIns="0" rtlCol="0" anchor="ctr"/>
          <a:lstStyle/>
          <a:p>
            <a:pPr indent="0" marL="0">
              <a:lnSpc>
                <a:spcPts val="1900"/>
              </a:lnSpc>
              <a:buNone/>
            </a:pPr>
            <a:r>
              <a:rPr lang="en-US" sz="1450" dirty="0">
                <a:solidFill>
                  <a:srgbClr val="9AA7B8"/>
                </a:solidFill>
                <a:latin typeface="Calibri" pitchFamily="34" charset="0"/>
                <a:ea typeface="Calibri" pitchFamily="34" charset="-122"/>
                <a:cs typeface="Calibri" pitchFamily="34" charset="-120"/>
              </a:rPr>
              <a:t>Solving color-accurate, low-latency artist workflows on the modern display stack.</a:t>
            </a:r>
            <a:endParaRPr lang="en-US" sz="1450" dirty="0"/>
          </a:p>
        </p:txBody>
      </p:sp>
      <p:sp>
        <p:nvSpPr>
          <p:cNvPr id="14" name="Shape 10"/>
          <p:cNvSpPr/>
          <p:nvPr/>
        </p:nvSpPr>
        <p:spPr>
          <a:xfrm>
            <a:off x="822960" y="4946904"/>
            <a:ext cx="10515600" cy="1325880"/>
          </a:xfrm>
          <a:prstGeom prst="roundRect">
            <a:avLst>
              <a:gd name="adj" fmla="val 6897"/>
            </a:avLst>
          </a:prstGeom>
          <a:solidFill>
            <a:srgbClr val="171C24"/>
          </a:solidFill>
          <a:ln/>
          <a:effectLst>
            <a:outerShdw sx="100000" sy="100000" kx="0" ky="0" algn="bl" rotWithShape="0" blurRad="101600" dist="38100" dir="5400000">
              <a:srgbClr val="000000">
                <a:alpha val="30000"/>
              </a:srgbClr>
            </a:outerShdw>
          </a:effectLst>
        </p:spPr>
      </p:sp>
      <p:sp>
        <p:nvSpPr>
          <p:cNvPr id="15" name="Shape 11"/>
          <p:cNvSpPr/>
          <p:nvPr/>
        </p:nvSpPr>
        <p:spPr>
          <a:xfrm>
            <a:off x="1234440" y="5312664"/>
            <a:ext cx="594360" cy="594360"/>
          </a:xfrm>
          <a:prstGeom prst="ellipse">
            <a:avLst/>
          </a:prstGeom>
          <a:solidFill>
            <a:srgbClr val="1E2530"/>
          </a:solidFill>
          <a:ln/>
        </p:spPr>
      </p:sp>
      <p:pic>
        <p:nvPicPr>
          <p:cNvPr id="16" name="Image 2" descr="preencoded.png"/>
          <p:cNvPicPr>
            <a:picLocks noChangeAspect="1"/>
          </p:cNvPicPr>
          <p:nvPr/>
        </p:nvPicPr>
        <p:blipFill>
          <a:blip r:embed="rId3"/>
          <a:stretch>
            <a:fillRect/>
          </a:stretch>
        </p:blipFill>
        <p:spPr>
          <a:xfrm>
            <a:off x="1371600" y="5449824"/>
            <a:ext cx="320040" cy="320040"/>
          </a:xfrm>
          <a:prstGeom prst="rect">
            <a:avLst/>
          </a:prstGeom>
        </p:spPr>
      </p:pic>
      <p:sp>
        <p:nvSpPr>
          <p:cNvPr id="17" name="Text 12"/>
          <p:cNvSpPr/>
          <p:nvPr/>
        </p:nvSpPr>
        <p:spPr>
          <a:xfrm>
            <a:off x="2148840" y="5148072"/>
            <a:ext cx="8778240" cy="457200"/>
          </a:xfrm>
          <a:prstGeom prst="rect">
            <a:avLst/>
          </a:prstGeom>
          <a:noFill/>
          <a:ln/>
        </p:spPr>
        <p:txBody>
          <a:bodyPr wrap="square" lIns="0" tIns="0" rIns="0" bIns="0" rtlCol="0" anchor="ctr"/>
          <a:lstStyle/>
          <a:p>
            <a:pPr indent="0" marL="0">
              <a:buNone/>
            </a:pPr>
            <a:r>
              <a:rPr lang="en-US" sz="2100" b="1" dirty="0">
                <a:solidFill>
                  <a:srgbClr val="F4F6F9"/>
                </a:solidFill>
                <a:latin typeface="Bookman Old Style" pitchFamily="34" charset="0"/>
                <a:ea typeface="Bookman Old Style" pitchFamily="34" charset="-122"/>
                <a:cs typeface="Bookman Old Style" pitchFamily="34" charset="-120"/>
              </a:rPr>
              <a:t>Remote desktop</a:t>
            </a:r>
            <a:endParaRPr lang="en-US" sz="2100" dirty="0"/>
          </a:p>
        </p:txBody>
      </p:sp>
      <p:sp>
        <p:nvSpPr>
          <p:cNvPr id="18" name="Text 13"/>
          <p:cNvSpPr/>
          <p:nvPr/>
        </p:nvSpPr>
        <p:spPr>
          <a:xfrm>
            <a:off x="2148840" y="5623560"/>
            <a:ext cx="8869680" cy="502920"/>
          </a:xfrm>
          <a:prstGeom prst="rect">
            <a:avLst/>
          </a:prstGeom>
          <a:noFill/>
          <a:ln/>
        </p:spPr>
        <p:txBody>
          <a:bodyPr wrap="square" lIns="0" tIns="0" rIns="0" bIns="0" rtlCol="0" anchor="ctr"/>
          <a:lstStyle/>
          <a:p>
            <a:pPr indent="0" marL="0">
              <a:lnSpc>
                <a:spcPts val="1900"/>
              </a:lnSpc>
              <a:buNone/>
            </a:pPr>
            <a:r>
              <a:rPr lang="en-US" sz="1450" dirty="0">
                <a:solidFill>
                  <a:srgbClr val="9AA7B8"/>
                </a:solidFill>
                <a:latin typeface="Calibri" pitchFamily="34" charset="0"/>
                <a:ea typeface="Calibri" pitchFamily="34" charset="-122"/>
                <a:cs typeface="Calibri" pitchFamily="34" charset="-120"/>
              </a:rPr>
              <a:t>Tackling the remote equation studios need — performance without compromise on fidelity.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22960" y="640080"/>
            <a:ext cx="5486400" cy="274320"/>
          </a:xfrm>
          <a:prstGeom prst="rect">
            <a:avLst/>
          </a:prstGeom>
          <a:noFill/>
          <a:ln/>
        </p:spPr>
        <p:txBody>
          <a:bodyPr wrap="square" lIns="0" tIns="0" rIns="0" bIns="0" rtlCol="0" anchor="ctr"/>
          <a:lstStyle/>
          <a:p>
            <a:pPr algn="l" indent="0" marL="0">
              <a:buNone/>
            </a:pPr>
            <a:r>
              <a:rPr lang="en-US" sz="1200" b="1" spc="300" kern="0" dirty="0">
                <a:solidFill>
                  <a:srgbClr val="16C98D"/>
                </a:solidFill>
                <a:latin typeface="Calibri" pitchFamily="34" charset="0"/>
                <a:ea typeface="Calibri" pitchFamily="34" charset="-122"/>
                <a:cs typeface="Calibri" pitchFamily="34" charset="-120"/>
              </a:rPr>
              <a:t>DEEP DIVE · DISPLAY</a:t>
            </a:r>
            <a:endParaRPr lang="en-US" sz="1200" dirty="0"/>
          </a:p>
        </p:txBody>
      </p:sp>
      <p:sp>
        <p:nvSpPr>
          <p:cNvPr id="3" name="Text 1"/>
          <p:cNvSpPr/>
          <p:nvPr/>
        </p:nvSpPr>
        <p:spPr>
          <a:xfrm>
            <a:off x="822960" y="914400"/>
            <a:ext cx="10515600" cy="777240"/>
          </a:xfrm>
          <a:prstGeom prst="rect">
            <a:avLst/>
          </a:prstGeom>
          <a:noFill/>
          <a:ln/>
        </p:spPr>
        <p:txBody>
          <a:bodyPr wrap="square" lIns="0" tIns="0" rIns="0" bIns="0" rtlCol="0" anchor="ctr"/>
          <a:lstStyle/>
          <a:p>
            <a:pPr indent="0" marL="0">
              <a:buNone/>
            </a:pPr>
            <a:r>
              <a:rPr lang="en-US" sz="3400" b="1" dirty="0">
                <a:solidFill>
                  <a:srgbClr val="1A2230"/>
                </a:solidFill>
                <a:latin typeface="Bookman Old Style" pitchFamily="34" charset="0"/>
                <a:ea typeface="Bookman Old Style" pitchFamily="34" charset="-122"/>
                <a:cs typeface="Bookman Old Style" pitchFamily="34" charset="-120"/>
              </a:rPr>
              <a:t>Wayland: why creative work is hard</a:t>
            </a:r>
            <a:endParaRPr lang="en-US" sz="3400" dirty="0"/>
          </a:p>
        </p:txBody>
      </p:sp>
      <p:sp>
        <p:nvSpPr>
          <p:cNvPr id="4" name="Text 2"/>
          <p:cNvSpPr/>
          <p:nvPr/>
        </p:nvSpPr>
        <p:spPr>
          <a:xfrm>
            <a:off x="822960" y="1737360"/>
            <a:ext cx="10241280" cy="640080"/>
          </a:xfrm>
          <a:prstGeom prst="rect">
            <a:avLst/>
          </a:prstGeom>
          <a:noFill/>
          <a:ln/>
        </p:spPr>
        <p:txBody>
          <a:bodyPr wrap="square" lIns="0" tIns="0" rIns="0" bIns="0" rtlCol="0" anchor="ctr"/>
          <a:lstStyle/>
          <a:p>
            <a:pPr indent="0" marL="0">
              <a:lnSpc>
                <a:spcPts val="2200"/>
              </a:lnSpc>
              <a:buNone/>
            </a:pPr>
            <a:r>
              <a:rPr lang="en-US" sz="1600" dirty="0">
                <a:solidFill>
                  <a:srgbClr val="5C6B7E"/>
                </a:solidFill>
                <a:latin typeface="Calibri" pitchFamily="34" charset="0"/>
                <a:ea typeface="Calibri" pitchFamily="34" charset="-122"/>
                <a:cs typeface="Calibri" pitchFamily="34" charset="-120"/>
              </a:rPr>
              <a:t>Wayland is the future of the Linux desktop — but the things that make it secure and smooth are exactly the things color-critical pipelines have to solve carefully.</a:t>
            </a:r>
            <a:endParaRPr lang="en-US" sz="1600" dirty="0"/>
          </a:p>
        </p:txBody>
      </p:sp>
      <p:sp>
        <p:nvSpPr>
          <p:cNvPr id="5" name="Shape 3"/>
          <p:cNvSpPr/>
          <p:nvPr/>
        </p:nvSpPr>
        <p:spPr>
          <a:xfrm>
            <a:off x="822960" y="2697480"/>
            <a:ext cx="3429000" cy="3108960"/>
          </a:xfrm>
          <a:prstGeom prst="roundRect">
            <a:avLst>
              <a:gd name="adj" fmla="val 3529"/>
            </a:avLst>
          </a:prstGeom>
          <a:solidFill>
            <a:srgbClr val="FFFFFF"/>
          </a:solidFill>
          <a:ln/>
          <a:effectLst>
            <a:outerShdw sx="100000" sy="100000" kx="0" ky="0" algn="bl" rotWithShape="0" blurRad="114300" dist="38100" dir="5400000">
              <a:srgbClr val="000000">
                <a:alpha val="14000"/>
              </a:srgbClr>
            </a:outerShdw>
          </a:effectLst>
        </p:spPr>
      </p:sp>
      <p:sp>
        <p:nvSpPr>
          <p:cNvPr id="6" name="Shape 4"/>
          <p:cNvSpPr/>
          <p:nvPr/>
        </p:nvSpPr>
        <p:spPr>
          <a:xfrm>
            <a:off x="1188720" y="3108960"/>
            <a:ext cx="868680" cy="868680"/>
          </a:xfrm>
          <a:prstGeom prst="ellipse">
            <a:avLst/>
          </a:prstGeom>
          <a:solidFill>
            <a:srgbClr val="F0F3F7"/>
          </a:solidFill>
          <a:ln/>
        </p:spPr>
      </p:sp>
      <p:pic>
        <p:nvPicPr>
          <p:cNvPr id="7" name="Image 0" descr="preencoded.png"/>
          <p:cNvPicPr>
            <a:picLocks noChangeAspect="1"/>
          </p:cNvPicPr>
          <p:nvPr/>
        </p:nvPicPr>
        <p:blipFill>
          <a:blip r:embed="rId1"/>
          <a:stretch>
            <a:fillRect/>
          </a:stretch>
        </p:blipFill>
        <p:spPr>
          <a:xfrm>
            <a:off x="1389888" y="3310128"/>
            <a:ext cx="457200" cy="457200"/>
          </a:xfrm>
          <a:prstGeom prst="rect">
            <a:avLst/>
          </a:prstGeom>
        </p:spPr>
      </p:pic>
      <p:sp>
        <p:nvSpPr>
          <p:cNvPr id="8" name="Text 5"/>
          <p:cNvSpPr/>
          <p:nvPr/>
        </p:nvSpPr>
        <p:spPr>
          <a:xfrm>
            <a:off x="1188720" y="4206240"/>
            <a:ext cx="2697480" cy="411480"/>
          </a:xfrm>
          <a:prstGeom prst="rect">
            <a:avLst/>
          </a:prstGeom>
          <a:noFill/>
          <a:ln/>
        </p:spPr>
        <p:txBody>
          <a:bodyPr wrap="square" lIns="0" tIns="0" rIns="0" bIns="0" rtlCol="0" anchor="ctr"/>
          <a:lstStyle/>
          <a:p>
            <a:pPr indent="0" marL="0">
              <a:buNone/>
            </a:pPr>
            <a:r>
              <a:rPr lang="en-US" sz="1900" b="1" dirty="0">
                <a:solidFill>
                  <a:srgbClr val="1A2230"/>
                </a:solidFill>
                <a:latin typeface="Bookman Old Style" pitchFamily="34" charset="0"/>
                <a:ea typeface="Bookman Old Style" pitchFamily="34" charset="-122"/>
                <a:cs typeface="Bookman Old Style" pitchFamily="34" charset="-120"/>
              </a:rPr>
              <a:t>Color management</a:t>
            </a:r>
            <a:endParaRPr lang="en-US" sz="1900" dirty="0"/>
          </a:p>
        </p:txBody>
      </p:sp>
      <p:sp>
        <p:nvSpPr>
          <p:cNvPr id="9" name="Text 6"/>
          <p:cNvSpPr/>
          <p:nvPr/>
        </p:nvSpPr>
        <p:spPr>
          <a:xfrm>
            <a:off x="1188720" y="4663440"/>
            <a:ext cx="2697480" cy="1051560"/>
          </a:xfrm>
          <a:prstGeom prst="rect">
            <a:avLst/>
          </a:prstGeom>
          <a:noFill/>
          <a:ln/>
        </p:spPr>
        <p:txBody>
          <a:bodyPr wrap="square" lIns="0" tIns="0" rIns="0" bIns="0" rtlCol="0" anchor="ctr"/>
          <a:lstStyle/>
          <a:p>
            <a:pPr indent="0" marL="0">
              <a:lnSpc>
                <a:spcPts val="1900"/>
              </a:lnSpc>
              <a:buNone/>
            </a:pPr>
            <a:r>
              <a:rPr lang="en-US" sz="1400" dirty="0">
                <a:solidFill>
                  <a:srgbClr val="5C6B7E"/>
                </a:solidFill>
                <a:latin typeface="Calibri" pitchFamily="34" charset="0"/>
                <a:ea typeface="Calibri" pitchFamily="34" charset="-122"/>
                <a:cs typeface="Calibri" pitchFamily="34" charset="-120"/>
              </a:rPr>
              <a:t>Getting ICC profiles and a predictable color pipeline to the compositor so what the artist sees is what renders.</a:t>
            </a:r>
            <a:endParaRPr lang="en-US" sz="1400" dirty="0"/>
          </a:p>
        </p:txBody>
      </p:sp>
      <p:sp>
        <p:nvSpPr>
          <p:cNvPr id="10" name="Shape 7"/>
          <p:cNvSpPr/>
          <p:nvPr/>
        </p:nvSpPr>
        <p:spPr>
          <a:xfrm>
            <a:off x="4572000" y="2697480"/>
            <a:ext cx="3429000" cy="3108960"/>
          </a:xfrm>
          <a:prstGeom prst="roundRect">
            <a:avLst>
              <a:gd name="adj" fmla="val 3529"/>
            </a:avLst>
          </a:prstGeom>
          <a:solidFill>
            <a:srgbClr val="FFFFFF"/>
          </a:solidFill>
          <a:ln/>
          <a:effectLst>
            <a:outerShdw sx="100000" sy="100000" kx="0" ky="0" algn="bl" rotWithShape="0" blurRad="114300" dist="38100" dir="5400000">
              <a:srgbClr val="000000">
                <a:alpha val="14000"/>
              </a:srgbClr>
            </a:outerShdw>
          </a:effectLst>
        </p:spPr>
      </p:sp>
      <p:sp>
        <p:nvSpPr>
          <p:cNvPr id="11" name="Shape 8"/>
          <p:cNvSpPr/>
          <p:nvPr/>
        </p:nvSpPr>
        <p:spPr>
          <a:xfrm>
            <a:off x="4937760" y="3108960"/>
            <a:ext cx="868680" cy="868680"/>
          </a:xfrm>
          <a:prstGeom prst="ellipse">
            <a:avLst/>
          </a:prstGeom>
          <a:solidFill>
            <a:srgbClr val="F0F3F7"/>
          </a:solidFill>
          <a:ln/>
        </p:spPr>
      </p:sp>
      <p:pic>
        <p:nvPicPr>
          <p:cNvPr id="12" name="Image 1" descr="preencoded.png"/>
          <p:cNvPicPr>
            <a:picLocks noChangeAspect="1"/>
          </p:cNvPicPr>
          <p:nvPr/>
        </p:nvPicPr>
        <p:blipFill>
          <a:blip r:embed="rId2"/>
          <a:stretch>
            <a:fillRect/>
          </a:stretch>
        </p:blipFill>
        <p:spPr>
          <a:xfrm>
            <a:off x="5138928" y="3310128"/>
            <a:ext cx="457200" cy="457200"/>
          </a:xfrm>
          <a:prstGeom prst="rect">
            <a:avLst/>
          </a:prstGeom>
        </p:spPr>
      </p:pic>
      <p:sp>
        <p:nvSpPr>
          <p:cNvPr id="13" name="Text 9"/>
          <p:cNvSpPr/>
          <p:nvPr/>
        </p:nvSpPr>
        <p:spPr>
          <a:xfrm>
            <a:off x="4937760" y="4206240"/>
            <a:ext cx="2697480" cy="411480"/>
          </a:xfrm>
          <a:prstGeom prst="rect">
            <a:avLst/>
          </a:prstGeom>
          <a:noFill/>
          <a:ln/>
        </p:spPr>
        <p:txBody>
          <a:bodyPr wrap="square" lIns="0" tIns="0" rIns="0" bIns="0" rtlCol="0" anchor="ctr"/>
          <a:lstStyle/>
          <a:p>
            <a:pPr indent="0" marL="0">
              <a:buNone/>
            </a:pPr>
            <a:r>
              <a:rPr lang="en-US" sz="1900" b="1" dirty="0">
                <a:solidFill>
                  <a:srgbClr val="1A2230"/>
                </a:solidFill>
                <a:latin typeface="Bookman Old Style" pitchFamily="34" charset="0"/>
                <a:ea typeface="Bookman Old Style" pitchFamily="34" charset="-122"/>
                <a:cs typeface="Bookman Old Style" pitchFamily="34" charset="-120"/>
              </a:rPr>
              <a:t>Low latency</a:t>
            </a:r>
            <a:endParaRPr lang="en-US" sz="1900" dirty="0"/>
          </a:p>
        </p:txBody>
      </p:sp>
      <p:sp>
        <p:nvSpPr>
          <p:cNvPr id="14" name="Text 10"/>
          <p:cNvSpPr/>
          <p:nvPr/>
        </p:nvSpPr>
        <p:spPr>
          <a:xfrm>
            <a:off x="4937760" y="4663440"/>
            <a:ext cx="2697480" cy="1051560"/>
          </a:xfrm>
          <a:prstGeom prst="rect">
            <a:avLst/>
          </a:prstGeom>
          <a:noFill/>
          <a:ln/>
        </p:spPr>
        <p:txBody>
          <a:bodyPr wrap="square" lIns="0" tIns="0" rIns="0" bIns="0" rtlCol="0" anchor="ctr"/>
          <a:lstStyle/>
          <a:p>
            <a:pPr indent="0" marL="0">
              <a:lnSpc>
                <a:spcPts val="1900"/>
              </a:lnSpc>
              <a:buNone/>
            </a:pPr>
            <a:r>
              <a:rPr lang="en-US" sz="1400" dirty="0">
                <a:solidFill>
                  <a:srgbClr val="5C6B7E"/>
                </a:solidFill>
                <a:latin typeface="Calibri" pitchFamily="34" charset="0"/>
                <a:ea typeface="Calibri" pitchFamily="34" charset="-122"/>
                <a:cs typeface="Calibri" pitchFamily="34" charset="-120"/>
              </a:rPr>
              <a:t>Frame pacing and input latency that hold up for interactive paint, edit and 3D viewport work.</a:t>
            </a:r>
            <a:endParaRPr lang="en-US" sz="1400" dirty="0"/>
          </a:p>
        </p:txBody>
      </p:sp>
      <p:sp>
        <p:nvSpPr>
          <p:cNvPr id="15" name="Shape 11"/>
          <p:cNvSpPr/>
          <p:nvPr/>
        </p:nvSpPr>
        <p:spPr>
          <a:xfrm>
            <a:off x="8321040" y="2697480"/>
            <a:ext cx="3429000" cy="3108960"/>
          </a:xfrm>
          <a:prstGeom prst="roundRect">
            <a:avLst>
              <a:gd name="adj" fmla="val 3529"/>
            </a:avLst>
          </a:prstGeom>
          <a:solidFill>
            <a:srgbClr val="FFFFFF"/>
          </a:solidFill>
          <a:ln/>
          <a:effectLst>
            <a:outerShdw sx="100000" sy="100000" kx="0" ky="0" algn="bl" rotWithShape="0" blurRad="114300" dist="38100" dir="5400000">
              <a:srgbClr val="000000">
                <a:alpha val="14000"/>
              </a:srgbClr>
            </a:outerShdw>
          </a:effectLst>
        </p:spPr>
      </p:sp>
      <p:sp>
        <p:nvSpPr>
          <p:cNvPr id="16" name="Shape 12"/>
          <p:cNvSpPr/>
          <p:nvPr/>
        </p:nvSpPr>
        <p:spPr>
          <a:xfrm>
            <a:off x="8686800" y="3108960"/>
            <a:ext cx="868680" cy="868680"/>
          </a:xfrm>
          <a:prstGeom prst="ellipse">
            <a:avLst/>
          </a:prstGeom>
          <a:solidFill>
            <a:srgbClr val="F0F3F7"/>
          </a:solidFill>
          <a:ln/>
        </p:spPr>
      </p:sp>
      <p:pic>
        <p:nvPicPr>
          <p:cNvPr id="17" name="Image 2" descr="preencoded.png"/>
          <p:cNvPicPr>
            <a:picLocks noChangeAspect="1"/>
          </p:cNvPicPr>
          <p:nvPr/>
        </p:nvPicPr>
        <p:blipFill>
          <a:blip r:embed="rId3"/>
          <a:stretch>
            <a:fillRect/>
          </a:stretch>
        </p:blipFill>
        <p:spPr>
          <a:xfrm>
            <a:off x="8887968" y="3310128"/>
            <a:ext cx="457200" cy="457200"/>
          </a:xfrm>
          <a:prstGeom prst="rect">
            <a:avLst/>
          </a:prstGeom>
        </p:spPr>
      </p:pic>
      <p:sp>
        <p:nvSpPr>
          <p:cNvPr id="18" name="Text 13"/>
          <p:cNvSpPr/>
          <p:nvPr/>
        </p:nvSpPr>
        <p:spPr>
          <a:xfrm>
            <a:off x="8686800" y="4206240"/>
            <a:ext cx="2697480" cy="411480"/>
          </a:xfrm>
          <a:prstGeom prst="rect">
            <a:avLst/>
          </a:prstGeom>
          <a:noFill/>
          <a:ln/>
        </p:spPr>
        <p:txBody>
          <a:bodyPr wrap="square" lIns="0" tIns="0" rIns="0" bIns="0" rtlCol="0" anchor="ctr"/>
          <a:lstStyle/>
          <a:p>
            <a:pPr indent="0" marL="0">
              <a:buNone/>
            </a:pPr>
            <a:r>
              <a:rPr lang="en-US" sz="1900" b="1" dirty="0">
                <a:solidFill>
                  <a:srgbClr val="1A2230"/>
                </a:solidFill>
                <a:latin typeface="Bookman Old Style" pitchFamily="34" charset="0"/>
                <a:ea typeface="Bookman Old Style" pitchFamily="34" charset="-122"/>
                <a:cs typeface="Bookman Old Style" pitchFamily="34" charset="-120"/>
              </a:rPr>
              <a:t>Isolation tradeoffs</a:t>
            </a:r>
            <a:endParaRPr lang="en-US" sz="1900" dirty="0"/>
          </a:p>
        </p:txBody>
      </p:sp>
      <p:sp>
        <p:nvSpPr>
          <p:cNvPr id="19" name="Text 14"/>
          <p:cNvSpPr/>
          <p:nvPr/>
        </p:nvSpPr>
        <p:spPr>
          <a:xfrm>
            <a:off x="8686800" y="4663440"/>
            <a:ext cx="2697480" cy="1051560"/>
          </a:xfrm>
          <a:prstGeom prst="rect">
            <a:avLst/>
          </a:prstGeom>
          <a:noFill/>
          <a:ln/>
        </p:spPr>
        <p:txBody>
          <a:bodyPr wrap="square" lIns="0" tIns="0" rIns="0" bIns="0" rtlCol="0" anchor="ctr"/>
          <a:lstStyle/>
          <a:p>
            <a:pPr indent="0" marL="0">
              <a:lnSpc>
                <a:spcPts val="1900"/>
              </a:lnSpc>
              <a:buNone/>
            </a:pPr>
            <a:r>
              <a:rPr lang="en-US" sz="1400" dirty="0">
                <a:solidFill>
                  <a:srgbClr val="5C6B7E"/>
                </a:solidFill>
                <a:latin typeface="Calibri" pitchFamily="34" charset="0"/>
                <a:ea typeface="Calibri" pitchFamily="34" charset="-122"/>
                <a:cs typeface="Calibri" pitchFamily="34" charset="-120"/>
              </a:rPr>
              <a:t>Wayland's security model restricts screen capture and input — great for safety, real work for capture-heavy tools.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822960" y="594360"/>
            <a:ext cx="5486400" cy="274320"/>
          </a:xfrm>
          <a:prstGeom prst="rect">
            <a:avLst/>
          </a:prstGeom>
          <a:noFill/>
          <a:ln/>
        </p:spPr>
        <p:txBody>
          <a:bodyPr wrap="square" lIns="0" tIns="0" rIns="0" bIns="0" rtlCol="0" anchor="ctr"/>
          <a:lstStyle/>
          <a:p>
            <a:pPr algn="l" indent="0" marL="0">
              <a:buNone/>
            </a:pPr>
            <a:r>
              <a:rPr lang="en-US" sz="1200" b="1" spc="300" kern="0" dirty="0">
                <a:solidFill>
                  <a:srgbClr val="16C98D"/>
                </a:solidFill>
                <a:latin typeface="Calibri" pitchFamily="34" charset="0"/>
                <a:ea typeface="Calibri" pitchFamily="34" charset="-122"/>
                <a:cs typeface="Calibri" pitchFamily="34" charset="-120"/>
              </a:rPr>
              <a:t>DEEP DIVE · REMOTE</a:t>
            </a:r>
            <a:endParaRPr lang="en-US" sz="1200" dirty="0"/>
          </a:p>
        </p:txBody>
      </p:sp>
      <p:sp>
        <p:nvSpPr>
          <p:cNvPr id="3" name="Text 1"/>
          <p:cNvSpPr/>
          <p:nvPr/>
        </p:nvSpPr>
        <p:spPr>
          <a:xfrm>
            <a:off x="822960" y="868680"/>
            <a:ext cx="10515600" cy="777240"/>
          </a:xfrm>
          <a:prstGeom prst="rect">
            <a:avLst/>
          </a:prstGeom>
          <a:noFill/>
          <a:ln/>
        </p:spPr>
        <p:txBody>
          <a:bodyPr wrap="square" lIns="0" tIns="0" rIns="0" bIns="0" rtlCol="0" anchor="ctr"/>
          <a:lstStyle/>
          <a:p>
            <a:pPr indent="0" marL="0">
              <a:buNone/>
            </a:pPr>
            <a:r>
              <a:rPr lang="en-US" sz="3400" b="1" dirty="0">
                <a:solidFill>
                  <a:srgbClr val="F4F6F9"/>
                </a:solidFill>
                <a:latin typeface="Bookman Old Style" pitchFamily="34" charset="0"/>
                <a:ea typeface="Bookman Old Style" pitchFamily="34" charset="-122"/>
                <a:cs typeface="Bookman Old Style" pitchFamily="34" charset="-120"/>
              </a:rPr>
              <a:t>The remote desktop equation</a:t>
            </a:r>
            <a:endParaRPr lang="en-US" sz="3400" dirty="0"/>
          </a:p>
        </p:txBody>
      </p:sp>
      <p:sp>
        <p:nvSpPr>
          <p:cNvPr id="4" name="Text 2"/>
          <p:cNvSpPr/>
          <p:nvPr/>
        </p:nvSpPr>
        <p:spPr>
          <a:xfrm>
            <a:off x="822960" y="1691640"/>
            <a:ext cx="10241280" cy="640080"/>
          </a:xfrm>
          <a:prstGeom prst="rect">
            <a:avLst/>
          </a:prstGeom>
          <a:noFill/>
          <a:ln/>
        </p:spPr>
        <p:txBody>
          <a:bodyPr wrap="square" lIns="0" tIns="0" rIns="0" bIns="0" rtlCol="0" anchor="ctr"/>
          <a:lstStyle/>
          <a:p>
            <a:pPr indent="0" marL="0">
              <a:lnSpc>
                <a:spcPts val="2200"/>
              </a:lnSpc>
              <a:buNone/>
            </a:pPr>
            <a:r>
              <a:rPr lang="en-US" sz="1600" dirty="0">
                <a:solidFill>
                  <a:srgbClr val="9AA7B8"/>
                </a:solidFill>
                <a:latin typeface="Calibri" pitchFamily="34" charset="0"/>
                <a:ea typeface="Calibri" pitchFamily="34" charset="-122"/>
                <a:cs typeface="Calibri" pitchFamily="34" charset="-120"/>
              </a:rPr>
              <a:t>Studios increasingly keep data in the datacenter and stream the desktop to the artist. The workstation becomes a thin client — if the pixels arrive fast enough and accurate enough.</a:t>
            </a:r>
            <a:endParaRPr lang="en-US" sz="1600" dirty="0"/>
          </a:p>
        </p:txBody>
      </p:sp>
      <p:sp>
        <p:nvSpPr>
          <p:cNvPr id="5" name="Shape 3"/>
          <p:cNvSpPr/>
          <p:nvPr/>
        </p:nvSpPr>
        <p:spPr>
          <a:xfrm>
            <a:off x="822960" y="2651760"/>
            <a:ext cx="3200400" cy="2423160"/>
          </a:xfrm>
          <a:prstGeom prst="roundRect">
            <a:avLst>
              <a:gd name="adj" fmla="val 4528"/>
            </a:avLst>
          </a:prstGeom>
          <a:solidFill>
            <a:srgbClr val="171C24"/>
          </a:solidFill>
          <a:ln/>
          <a:effectLst>
            <a:outerShdw sx="100000" sy="100000" kx="0" ky="0" algn="bl" rotWithShape="0" blurRad="114300" dist="38100" dir="5400000">
              <a:srgbClr val="000000">
                <a:alpha val="30000"/>
              </a:srgbClr>
            </a:outerShdw>
          </a:effectLst>
        </p:spPr>
      </p:sp>
      <p:sp>
        <p:nvSpPr>
          <p:cNvPr id="6" name="Shape 4"/>
          <p:cNvSpPr/>
          <p:nvPr/>
        </p:nvSpPr>
        <p:spPr>
          <a:xfrm>
            <a:off x="1188720" y="3017520"/>
            <a:ext cx="822960" cy="822960"/>
          </a:xfrm>
          <a:prstGeom prst="ellipse">
            <a:avLst/>
          </a:prstGeom>
          <a:solidFill>
            <a:srgbClr val="1E2530"/>
          </a:solidFill>
          <a:ln/>
        </p:spPr>
      </p:sp>
      <p:pic>
        <p:nvPicPr>
          <p:cNvPr id="7" name="Image 0" descr="preencoded.png"/>
          <p:cNvPicPr>
            <a:picLocks noChangeAspect="1"/>
          </p:cNvPicPr>
          <p:nvPr/>
        </p:nvPicPr>
        <p:blipFill>
          <a:blip r:embed="rId1"/>
          <a:stretch>
            <a:fillRect/>
          </a:stretch>
        </p:blipFill>
        <p:spPr>
          <a:xfrm>
            <a:off x="1380744" y="3209544"/>
            <a:ext cx="438912" cy="438912"/>
          </a:xfrm>
          <a:prstGeom prst="rect">
            <a:avLst/>
          </a:prstGeom>
        </p:spPr>
      </p:pic>
      <p:sp>
        <p:nvSpPr>
          <p:cNvPr id="8" name="Text 5"/>
          <p:cNvSpPr/>
          <p:nvPr/>
        </p:nvSpPr>
        <p:spPr>
          <a:xfrm>
            <a:off x="1188720" y="3977640"/>
            <a:ext cx="2468880" cy="365760"/>
          </a:xfrm>
          <a:prstGeom prst="rect">
            <a:avLst/>
          </a:prstGeom>
          <a:noFill/>
          <a:ln/>
        </p:spPr>
        <p:txBody>
          <a:bodyPr wrap="square" lIns="0" tIns="0" rIns="0" bIns="0" rtlCol="0" anchor="ctr"/>
          <a:lstStyle/>
          <a:p>
            <a:pPr indent="0" marL="0">
              <a:buNone/>
            </a:pPr>
            <a:r>
              <a:rPr lang="en-US" sz="1800" b="1" dirty="0">
                <a:solidFill>
                  <a:srgbClr val="F4F6F9"/>
                </a:solidFill>
                <a:latin typeface="Bookman Old Style" pitchFamily="34" charset="0"/>
                <a:ea typeface="Bookman Old Style" pitchFamily="34" charset="-122"/>
                <a:cs typeface="Bookman Old Style" pitchFamily="34" charset="-120"/>
              </a:rPr>
              <a:t>Render host</a:t>
            </a:r>
            <a:endParaRPr lang="en-US" sz="1800" dirty="0"/>
          </a:p>
        </p:txBody>
      </p:sp>
      <p:sp>
        <p:nvSpPr>
          <p:cNvPr id="9" name="Text 6"/>
          <p:cNvSpPr/>
          <p:nvPr/>
        </p:nvSpPr>
        <p:spPr>
          <a:xfrm>
            <a:off x="1188720" y="4389120"/>
            <a:ext cx="2468880" cy="640080"/>
          </a:xfrm>
          <a:prstGeom prst="rect">
            <a:avLst/>
          </a:prstGeom>
          <a:noFill/>
          <a:ln/>
        </p:spPr>
        <p:txBody>
          <a:bodyPr wrap="square" lIns="0" tIns="0" rIns="0" bIns="0" rtlCol="0" anchor="ctr"/>
          <a:lstStyle/>
          <a:p>
            <a:pPr indent="0" marL="0">
              <a:lnSpc>
                <a:spcPts val="1800"/>
              </a:lnSpc>
              <a:buNone/>
            </a:pPr>
            <a:r>
              <a:rPr lang="en-US" sz="1350" dirty="0">
                <a:solidFill>
                  <a:srgbClr val="9AA7B8"/>
                </a:solidFill>
                <a:latin typeface="Calibri" pitchFamily="34" charset="0"/>
                <a:ea typeface="Calibri" pitchFamily="34" charset="-122"/>
                <a:cs typeface="Calibri" pitchFamily="34" charset="-120"/>
              </a:rPr>
              <a:t>GPU, storage and the full app stack live here, in the studio or cloud.</a:t>
            </a:r>
            <a:endParaRPr lang="en-US" sz="1350" dirty="0"/>
          </a:p>
        </p:txBody>
      </p:sp>
      <p:pic>
        <p:nvPicPr>
          <p:cNvPr id="10" name="Image 1" descr="preencoded.png"/>
          <p:cNvPicPr>
            <a:picLocks noChangeAspect="1"/>
          </p:cNvPicPr>
          <p:nvPr/>
        </p:nvPicPr>
        <p:blipFill>
          <a:blip r:embed="rId2"/>
          <a:stretch>
            <a:fillRect/>
          </a:stretch>
        </p:blipFill>
        <p:spPr>
          <a:xfrm>
            <a:off x="4069080" y="3520440"/>
            <a:ext cx="365760" cy="365760"/>
          </a:xfrm>
          <a:prstGeom prst="rect">
            <a:avLst/>
          </a:prstGeom>
        </p:spPr>
      </p:pic>
      <p:sp>
        <p:nvSpPr>
          <p:cNvPr id="11" name="Shape 7"/>
          <p:cNvSpPr/>
          <p:nvPr/>
        </p:nvSpPr>
        <p:spPr>
          <a:xfrm>
            <a:off x="4480560" y="2651760"/>
            <a:ext cx="3200400" cy="2423160"/>
          </a:xfrm>
          <a:prstGeom prst="roundRect">
            <a:avLst>
              <a:gd name="adj" fmla="val 4528"/>
            </a:avLst>
          </a:prstGeom>
          <a:solidFill>
            <a:srgbClr val="171C24"/>
          </a:solidFill>
          <a:ln/>
          <a:effectLst>
            <a:outerShdw sx="100000" sy="100000" kx="0" ky="0" algn="bl" rotWithShape="0" blurRad="114300" dist="38100" dir="5400000">
              <a:srgbClr val="000000">
                <a:alpha val="30000"/>
              </a:srgbClr>
            </a:outerShdw>
          </a:effectLst>
        </p:spPr>
      </p:sp>
      <p:sp>
        <p:nvSpPr>
          <p:cNvPr id="12" name="Shape 8"/>
          <p:cNvSpPr/>
          <p:nvPr/>
        </p:nvSpPr>
        <p:spPr>
          <a:xfrm>
            <a:off x="4846320" y="3017520"/>
            <a:ext cx="822960" cy="822960"/>
          </a:xfrm>
          <a:prstGeom prst="ellipse">
            <a:avLst/>
          </a:prstGeom>
          <a:solidFill>
            <a:srgbClr val="1E2530"/>
          </a:solidFill>
          <a:ln/>
        </p:spPr>
      </p:sp>
      <p:pic>
        <p:nvPicPr>
          <p:cNvPr id="13" name="Image 2" descr="preencoded.png"/>
          <p:cNvPicPr>
            <a:picLocks noChangeAspect="1"/>
          </p:cNvPicPr>
          <p:nvPr/>
        </p:nvPicPr>
        <p:blipFill>
          <a:blip r:embed="rId3"/>
          <a:stretch>
            <a:fillRect/>
          </a:stretch>
        </p:blipFill>
        <p:spPr>
          <a:xfrm>
            <a:off x="5038344" y="3209544"/>
            <a:ext cx="438912" cy="438912"/>
          </a:xfrm>
          <a:prstGeom prst="rect">
            <a:avLst/>
          </a:prstGeom>
        </p:spPr>
      </p:pic>
      <p:sp>
        <p:nvSpPr>
          <p:cNvPr id="14" name="Text 9"/>
          <p:cNvSpPr/>
          <p:nvPr/>
        </p:nvSpPr>
        <p:spPr>
          <a:xfrm>
            <a:off x="4846320" y="3977640"/>
            <a:ext cx="2468880" cy="365760"/>
          </a:xfrm>
          <a:prstGeom prst="rect">
            <a:avLst/>
          </a:prstGeom>
          <a:noFill/>
          <a:ln/>
        </p:spPr>
        <p:txBody>
          <a:bodyPr wrap="square" lIns="0" tIns="0" rIns="0" bIns="0" rtlCol="0" anchor="ctr"/>
          <a:lstStyle/>
          <a:p>
            <a:pPr indent="0" marL="0">
              <a:buNone/>
            </a:pPr>
            <a:r>
              <a:rPr lang="en-US" sz="1800" b="1" dirty="0">
                <a:solidFill>
                  <a:srgbClr val="F4F6F9"/>
                </a:solidFill>
                <a:latin typeface="Bookman Old Style" pitchFamily="34" charset="0"/>
                <a:ea typeface="Bookman Old Style" pitchFamily="34" charset="-122"/>
                <a:cs typeface="Bookman Old Style" pitchFamily="34" charset="-120"/>
              </a:rPr>
              <a:t>Encode &amp; stream</a:t>
            </a:r>
            <a:endParaRPr lang="en-US" sz="1800" dirty="0"/>
          </a:p>
        </p:txBody>
      </p:sp>
      <p:sp>
        <p:nvSpPr>
          <p:cNvPr id="15" name="Text 10"/>
          <p:cNvSpPr/>
          <p:nvPr/>
        </p:nvSpPr>
        <p:spPr>
          <a:xfrm>
            <a:off x="4846320" y="4389120"/>
            <a:ext cx="2468880" cy="640080"/>
          </a:xfrm>
          <a:prstGeom prst="rect">
            <a:avLst/>
          </a:prstGeom>
          <a:noFill/>
          <a:ln/>
        </p:spPr>
        <p:txBody>
          <a:bodyPr wrap="square" lIns="0" tIns="0" rIns="0" bIns="0" rtlCol="0" anchor="ctr"/>
          <a:lstStyle/>
          <a:p>
            <a:pPr indent="0" marL="0">
              <a:lnSpc>
                <a:spcPts val="1800"/>
              </a:lnSpc>
              <a:buNone/>
            </a:pPr>
            <a:r>
              <a:rPr lang="en-US" sz="1350" dirty="0">
                <a:solidFill>
                  <a:srgbClr val="9AA7B8"/>
                </a:solidFill>
                <a:latin typeface="Calibri" pitchFamily="34" charset="0"/>
                <a:ea typeface="Calibri" pitchFamily="34" charset="-122"/>
                <a:cs typeface="Calibri" pitchFamily="34" charset="-120"/>
              </a:rPr>
              <a:t>Encoded over the network with color fidelity and minimal latency preserved.</a:t>
            </a:r>
            <a:endParaRPr lang="en-US" sz="1350" dirty="0"/>
          </a:p>
        </p:txBody>
      </p:sp>
      <p:pic>
        <p:nvPicPr>
          <p:cNvPr id="16" name="Image 3" descr="preencoded.png"/>
          <p:cNvPicPr>
            <a:picLocks noChangeAspect="1"/>
          </p:cNvPicPr>
          <p:nvPr/>
        </p:nvPicPr>
        <p:blipFill>
          <a:blip r:embed="rId4"/>
          <a:stretch>
            <a:fillRect/>
          </a:stretch>
        </p:blipFill>
        <p:spPr>
          <a:xfrm>
            <a:off x="7726680" y="3520440"/>
            <a:ext cx="365760" cy="365760"/>
          </a:xfrm>
          <a:prstGeom prst="rect">
            <a:avLst/>
          </a:prstGeom>
        </p:spPr>
      </p:pic>
      <p:sp>
        <p:nvSpPr>
          <p:cNvPr id="17" name="Shape 11"/>
          <p:cNvSpPr/>
          <p:nvPr/>
        </p:nvSpPr>
        <p:spPr>
          <a:xfrm>
            <a:off x="8138160" y="2651760"/>
            <a:ext cx="3200400" cy="2423160"/>
          </a:xfrm>
          <a:prstGeom prst="roundRect">
            <a:avLst>
              <a:gd name="adj" fmla="val 4528"/>
            </a:avLst>
          </a:prstGeom>
          <a:solidFill>
            <a:srgbClr val="171C24"/>
          </a:solidFill>
          <a:ln/>
          <a:effectLst>
            <a:outerShdw sx="100000" sy="100000" kx="0" ky="0" algn="bl" rotWithShape="0" blurRad="114300" dist="38100" dir="5400000">
              <a:srgbClr val="000000">
                <a:alpha val="30000"/>
              </a:srgbClr>
            </a:outerShdw>
          </a:effectLst>
        </p:spPr>
      </p:sp>
      <p:sp>
        <p:nvSpPr>
          <p:cNvPr id="18" name="Shape 12"/>
          <p:cNvSpPr/>
          <p:nvPr/>
        </p:nvSpPr>
        <p:spPr>
          <a:xfrm>
            <a:off x="8503920" y="3017520"/>
            <a:ext cx="822960" cy="822960"/>
          </a:xfrm>
          <a:prstGeom prst="ellipse">
            <a:avLst/>
          </a:prstGeom>
          <a:solidFill>
            <a:srgbClr val="1E2530"/>
          </a:solidFill>
          <a:ln/>
        </p:spPr>
      </p:sp>
      <p:pic>
        <p:nvPicPr>
          <p:cNvPr id="19" name="Image 4" descr="preencoded.png"/>
          <p:cNvPicPr>
            <a:picLocks noChangeAspect="1"/>
          </p:cNvPicPr>
          <p:nvPr/>
        </p:nvPicPr>
        <p:blipFill>
          <a:blip r:embed="rId5"/>
          <a:stretch>
            <a:fillRect/>
          </a:stretch>
        </p:blipFill>
        <p:spPr>
          <a:xfrm>
            <a:off x="8695944" y="3209544"/>
            <a:ext cx="438912" cy="438912"/>
          </a:xfrm>
          <a:prstGeom prst="rect">
            <a:avLst/>
          </a:prstGeom>
        </p:spPr>
      </p:pic>
      <p:sp>
        <p:nvSpPr>
          <p:cNvPr id="20" name="Text 13"/>
          <p:cNvSpPr/>
          <p:nvPr/>
        </p:nvSpPr>
        <p:spPr>
          <a:xfrm>
            <a:off x="8503920" y="3977640"/>
            <a:ext cx="2468880" cy="365760"/>
          </a:xfrm>
          <a:prstGeom prst="rect">
            <a:avLst/>
          </a:prstGeom>
          <a:noFill/>
          <a:ln/>
        </p:spPr>
        <p:txBody>
          <a:bodyPr wrap="square" lIns="0" tIns="0" rIns="0" bIns="0" rtlCol="0" anchor="ctr"/>
          <a:lstStyle/>
          <a:p>
            <a:pPr indent="0" marL="0">
              <a:buNone/>
            </a:pPr>
            <a:r>
              <a:rPr lang="en-US" sz="1800" b="1" dirty="0">
                <a:solidFill>
                  <a:srgbClr val="F4F6F9"/>
                </a:solidFill>
                <a:latin typeface="Bookman Old Style" pitchFamily="34" charset="0"/>
                <a:ea typeface="Bookman Old Style" pitchFamily="34" charset="-122"/>
                <a:cs typeface="Bookman Old Style" pitchFamily="34" charset="-120"/>
              </a:rPr>
              <a:t>Artist endpoint</a:t>
            </a:r>
            <a:endParaRPr lang="en-US" sz="1800" dirty="0"/>
          </a:p>
        </p:txBody>
      </p:sp>
      <p:sp>
        <p:nvSpPr>
          <p:cNvPr id="21" name="Text 14"/>
          <p:cNvSpPr/>
          <p:nvPr/>
        </p:nvSpPr>
        <p:spPr>
          <a:xfrm>
            <a:off x="8503920" y="4389120"/>
            <a:ext cx="2468880" cy="640080"/>
          </a:xfrm>
          <a:prstGeom prst="rect">
            <a:avLst/>
          </a:prstGeom>
          <a:noFill/>
          <a:ln/>
        </p:spPr>
        <p:txBody>
          <a:bodyPr wrap="square" lIns="0" tIns="0" rIns="0" bIns="0" rtlCol="0" anchor="ctr"/>
          <a:lstStyle/>
          <a:p>
            <a:pPr indent="0" marL="0">
              <a:lnSpc>
                <a:spcPts val="1800"/>
              </a:lnSpc>
              <a:buNone/>
            </a:pPr>
            <a:r>
              <a:rPr lang="en-US" sz="1350" dirty="0">
                <a:solidFill>
                  <a:srgbClr val="9AA7B8"/>
                </a:solidFill>
                <a:latin typeface="Calibri" pitchFamily="34" charset="0"/>
                <a:ea typeface="Calibri" pitchFamily="34" charset="-122"/>
                <a:cs typeface="Calibri" pitchFamily="34" charset="-120"/>
              </a:rPr>
              <a:t>A light client — even a laptop — drives a full creative session.</a:t>
            </a:r>
            <a:endParaRPr lang="en-US" sz="1350" dirty="0"/>
          </a:p>
        </p:txBody>
      </p:sp>
      <p:sp>
        <p:nvSpPr>
          <p:cNvPr id="22" name="Text 15"/>
          <p:cNvSpPr/>
          <p:nvPr/>
        </p:nvSpPr>
        <p:spPr>
          <a:xfrm>
            <a:off x="822960" y="5349240"/>
            <a:ext cx="10515600" cy="548640"/>
          </a:xfrm>
          <a:prstGeom prst="rect">
            <a:avLst/>
          </a:prstGeom>
          <a:noFill/>
          <a:ln/>
        </p:spPr>
        <p:txBody>
          <a:bodyPr wrap="square" lIns="0" tIns="0" rIns="0" bIns="0" rtlCol="0" anchor="ctr"/>
          <a:lstStyle/>
          <a:p>
            <a:pPr algn="l" indent="0" marL="0">
              <a:lnSpc>
                <a:spcPts val="1900"/>
              </a:lnSpc>
              <a:buNone/>
            </a:pPr>
            <a:r>
              <a:rPr lang="en-US" sz="1450" i="1" dirty="0">
                <a:solidFill>
                  <a:srgbClr val="9AA7B8"/>
                </a:solidFill>
                <a:latin typeface="Calibri" pitchFamily="34" charset="0"/>
                <a:ea typeface="Calibri" pitchFamily="34" charset="-122"/>
                <a:cs typeface="Calibri" pitchFamily="34" charset="-120"/>
              </a:rPr>
              <a:t>The hard parts: color-accurate encoding, sub-frame latency over real networks, and multi-monitor + tablet input passthrough.</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22960" y="640080"/>
            <a:ext cx="5486400" cy="274320"/>
          </a:xfrm>
          <a:prstGeom prst="rect">
            <a:avLst/>
          </a:prstGeom>
          <a:noFill/>
          <a:ln/>
        </p:spPr>
        <p:txBody>
          <a:bodyPr wrap="square" lIns="0" tIns="0" rIns="0" bIns="0" rtlCol="0" anchor="ctr"/>
          <a:lstStyle/>
          <a:p>
            <a:pPr algn="l" indent="0" marL="0">
              <a:buNone/>
            </a:pPr>
            <a:r>
              <a:rPr lang="en-US" sz="1200" b="1" spc="300" kern="0" dirty="0">
                <a:solidFill>
                  <a:srgbClr val="16C98D"/>
                </a:solidFill>
                <a:latin typeface="Calibri" pitchFamily="34" charset="0"/>
                <a:ea typeface="Calibri" pitchFamily="34" charset="-122"/>
                <a:cs typeface="Calibri" pitchFamily="34" charset="-120"/>
              </a:rPr>
              <a:t>COMMUNITY HARDWARE</a:t>
            </a:r>
            <a:endParaRPr lang="en-US" sz="1200" dirty="0"/>
          </a:p>
        </p:txBody>
      </p:sp>
      <p:sp>
        <p:nvSpPr>
          <p:cNvPr id="3" name="Text 1"/>
          <p:cNvSpPr/>
          <p:nvPr/>
        </p:nvSpPr>
        <p:spPr>
          <a:xfrm>
            <a:off x="822960" y="914400"/>
            <a:ext cx="10515600" cy="777240"/>
          </a:xfrm>
          <a:prstGeom prst="rect">
            <a:avLst/>
          </a:prstGeom>
          <a:noFill/>
          <a:ln/>
        </p:spPr>
        <p:txBody>
          <a:bodyPr wrap="square" lIns="0" tIns="0" rIns="0" bIns="0" rtlCol="0" anchor="ctr"/>
          <a:lstStyle/>
          <a:p>
            <a:pPr indent="0" marL="0">
              <a:buNone/>
            </a:pPr>
            <a:r>
              <a:rPr lang="en-US" sz="3400" b="1" dirty="0">
                <a:solidFill>
                  <a:srgbClr val="1A2230"/>
                </a:solidFill>
                <a:latin typeface="Bookman Old Style" pitchFamily="34" charset="0"/>
                <a:ea typeface="Bookman Old Style" pitchFamily="34" charset="-122"/>
                <a:cs typeface="Bookman Old Style" pitchFamily="34" charset="-120"/>
              </a:rPr>
              <a:t>Works On — the hardware catalog</a:t>
            </a:r>
            <a:endParaRPr lang="en-US" sz="3400" dirty="0"/>
          </a:p>
        </p:txBody>
      </p:sp>
      <p:sp>
        <p:nvSpPr>
          <p:cNvPr id="4" name="Text 2"/>
          <p:cNvSpPr/>
          <p:nvPr/>
        </p:nvSpPr>
        <p:spPr>
          <a:xfrm>
            <a:off x="822960" y="1737360"/>
            <a:ext cx="10058400" cy="685800"/>
          </a:xfrm>
          <a:prstGeom prst="rect">
            <a:avLst/>
          </a:prstGeom>
          <a:noFill/>
          <a:ln/>
        </p:spPr>
        <p:txBody>
          <a:bodyPr wrap="square" lIns="0" tIns="0" rIns="0" bIns="0" rtlCol="0" anchor="ctr"/>
          <a:lstStyle/>
          <a:p>
            <a:pPr indent="0" marL="0">
              <a:lnSpc>
                <a:spcPts val="2200"/>
              </a:lnSpc>
              <a:buNone/>
            </a:pPr>
            <a:r>
              <a:rPr lang="en-US" sz="1650" dirty="0">
                <a:solidFill>
                  <a:srgbClr val="5C6B7E"/>
                </a:solidFill>
                <a:latin typeface="Calibri" pitchFamily="34" charset="0"/>
                <a:ea typeface="Calibri" pitchFamily="34" charset="-122"/>
                <a:cs typeface="Calibri" pitchFamily="34" charset="-120"/>
              </a:rPr>
              <a:t>A privacy-first community database — no hostnames or serials collected. Run one command, paste the result, and your rig is published for everyone.</a:t>
            </a:r>
            <a:endParaRPr lang="en-US" sz="1650" dirty="0"/>
          </a:p>
        </p:txBody>
      </p:sp>
      <p:sp>
        <p:nvSpPr>
          <p:cNvPr id="5" name="Shape 3"/>
          <p:cNvSpPr/>
          <p:nvPr/>
        </p:nvSpPr>
        <p:spPr>
          <a:xfrm>
            <a:off x="822960" y="2697480"/>
            <a:ext cx="2103120" cy="1371600"/>
          </a:xfrm>
          <a:prstGeom prst="roundRect">
            <a:avLst>
              <a:gd name="adj" fmla="val 6667"/>
            </a:avLst>
          </a:prstGeom>
          <a:solidFill>
            <a:srgbClr val="FFFFFF"/>
          </a:solidFill>
          <a:ln/>
          <a:effectLst>
            <a:outerShdw sx="100000" sy="100000" kx="0" ky="0" algn="bl" rotWithShape="0" blurRad="101600" dist="38100" dir="5400000">
              <a:srgbClr val="000000">
                <a:alpha val="13000"/>
              </a:srgbClr>
            </a:outerShdw>
          </a:effectLst>
        </p:spPr>
      </p:sp>
      <p:sp>
        <p:nvSpPr>
          <p:cNvPr id="6" name="Text 4"/>
          <p:cNvSpPr/>
          <p:nvPr/>
        </p:nvSpPr>
        <p:spPr>
          <a:xfrm>
            <a:off x="822960" y="2834640"/>
            <a:ext cx="2103120" cy="777240"/>
          </a:xfrm>
          <a:prstGeom prst="rect">
            <a:avLst/>
          </a:prstGeom>
          <a:noFill/>
          <a:ln/>
        </p:spPr>
        <p:txBody>
          <a:bodyPr wrap="square" lIns="0" tIns="0" rIns="0" bIns="0" rtlCol="0" anchor="ctr"/>
          <a:lstStyle/>
          <a:p>
            <a:pPr algn="ctr" indent="0" marL="0">
              <a:buNone/>
            </a:pPr>
            <a:r>
              <a:rPr lang="en-US" sz="4800" b="1" dirty="0">
                <a:solidFill>
                  <a:srgbClr val="0FB67E"/>
                </a:solidFill>
                <a:latin typeface="Bookman Old Style" pitchFamily="34" charset="0"/>
                <a:ea typeface="Bookman Old Style" pitchFamily="34" charset="-122"/>
                <a:cs typeface="Bookman Old Style" pitchFamily="34" charset="-120"/>
              </a:rPr>
              <a:t>14</a:t>
            </a:r>
            <a:endParaRPr lang="en-US" sz="4800" dirty="0"/>
          </a:p>
        </p:txBody>
      </p:sp>
      <p:sp>
        <p:nvSpPr>
          <p:cNvPr id="7" name="Text 5"/>
          <p:cNvSpPr/>
          <p:nvPr/>
        </p:nvSpPr>
        <p:spPr>
          <a:xfrm>
            <a:off x="822960" y="3611880"/>
            <a:ext cx="2103120" cy="320040"/>
          </a:xfrm>
          <a:prstGeom prst="rect">
            <a:avLst/>
          </a:prstGeom>
          <a:noFill/>
          <a:ln/>
        </p:spPr>
        <p:txBody>
          <a:bodyPr wrap="square" lIns="0" tIns="0" rIns="0" bIns="0" rtlCol="0" anchor="ctr"/>
          <a:lstStyle/>
          <a:p>
            <a:pPr algn="ctr" indent="0" marL="0">
              <a:buNone/>
            </a:pPr>
            <a:r>
              <a:rPr lang="en-US" sz="1200" b="1" spc="100" kern="0" dirty="0">
                <a:solidFill>
                  <a:srgbClr val="5C6B7E"/>
                </a:solidFill>
                <a:latin typeface="Calibri" pitchFamily="34" charset="0"/>
                <a:ea typeface="Calibri" pitchFamily="34" charset="-122"/>
                <a:cs typeface="Calibri" pitchFamily="34" charset="-120"/>
              </a:rPr>
              <a:t>REPORTS</a:t>
            </a:r>
            <a:endParaRPr lang="en-US" sz="1200" dirty="0"/>
          </a:p>
        </p:txBody>
      </p:sp>
      <p:sp>
        <p:nvSpPr>
          <p:cNvPr id="8" name="Shape 6"/>
          <p:cNvSpPr/>
          <p:nvPr/>
        </p:nvSpPr>
        <p:spPr>
          <a:xfrm>
            <a:off x="3154680" y="2697480"/>
            <a:ext cx="2103120" cy="1371600"/>
          </a:xfrm>
          <a:prstGeom prst="roundRect">
            <a:avLst>
              <a:gd name="adj" fmla="val 6667"/>
            </a:avLst>
          </a:prstGeom>
          <a:solidFill>
            <a:srgbClr val="FFFFFF"/>
          </a:solidFill>
          <a:ln/>
          <a:effectLst>
            <a:outerShdw sx="100000" sy="100000" kx="0" ky="0" algn="bl" rotWithShape="0" blurRad="101600" dist="38100" dir="5400000">
              <a:srgbClr val="000000">
                <a:alpha val="13000"/>
              </a:srgbClr>
            </a:outerShdw>
          </a:effectLst>
        </p:spPr>
      </p:sp>
      <p:sp>
        <p:nvSpPr>
          <p:cNvPr id="9" name="Text 7"/>
          <p:cNvSpPr/>
          <p:nvPr/>
        </p:nvSpPr>
        <p:spPr>
          <a:xfrm>
            <a:off x="3154680" y="2834640"/>
            <a:ext cx="2103120" cy="777240"/>
          </a:xfrm>
          <a:prstGeom prst="rect">
            <a:avLst/>
          </a:prstGeom>
          <a:noFill/>
          <a:ln/>
        </p:spPr>
        <p:txBody>
          <a:bodyPr wrap="square" lIns="0" tIns="0" rIns="0" bIns="0" rtlCol="0" anchor="ctr"/>
          <a:lstStyle/>
          <a:p>
            <a:pPr algn="ctr" indent="0" marL="0">
              <a:buNone/>
            </a:pPr>
            <a:r>
              <a:rPr lang="en-US" sz="4800" b="1" dirty="0">
                <a:solidFill>
                  <a:srgbClr val="3DA9FC"/>
                </a:solidFill>
                <a:latin typeface="Bookman Old Style" pitchFamily="34" charset="0"/>
                <a:ea typeface="Bookman Old Style" pitchFamily="34" charset="-122"/>
                <a:cs typeface="Bookman Old Style" pitchFamily="34" charset="-120"/>
              </a:rPr>
              <a:t>9</a:t>
            </a:r>
            <a:endParaRPr lang="en-US" sz="4800" dirty="0"/>
          </a:p>
        </p:txBody>
      </p:sp>
      <p:sp>
        <p:nvSpPr>
          <p:cNvPr id="10" name="Text 8"/>
          <p:cNvSpPr/>
          <p:nvPr/>
        </p:nvSpPr>
        <p:spPr>
          <a:xfrm>
            <a:off x="3154680" y="3611880"/>
            <a:ext cx="2103120" cy="320040"/>
          </a:xfrm>
          <a:prstGeom prst="rect">
            <a:avLst/>
          </a:prstGeom>
          <a:noFill/>
          <a:ln/>
        </p:spPr>
        <p:txBody>
          <a:bodyPr wrap="square" lIns="0" tIns="0" rIns="0" bIns="0" rtlCol="0" anchor="ctr"/>
          <a:lstStyle/>
          <a:p>
            <a:pPr algn="ctr" indent="0" marL="0">
              <a:buNone/>
            </a:pPr>
            <a:r>
              <a:rPr lang="en-US" sz="1200" b="1" spc="100" kern="0" dirty="0">
                <a:solidFill>
                  <a:srgbClr val="5C6B7E"/>
                </a:solidFill>
                <a:latin typeface="Calibri" pitchFamily="34" charset="0"/>
                <a:ea typeface="Calibri" pitchFamily="34" charset="-122"/>
                <a:cs typeface="Calibri" pitchFamily="34" charset="-120"/>
              </a:rPr>
              <a:t>UNIQUE GPUS</a:t>
            </a:r>
            <a:endParaRPr lang="en-US" sz="1200" dirty="0"/>
          </a:p>
        </p:txBody>
      </p:sp>
      <p:sp>
        <p:nvSpPr>
          <p:cNvPr id="11" name="Shape 9"/>
          <p:cNvSpPr/>
          <p:nvPr/>
        </p:nvSpPr>
        <p:spPr>
          <a:xfrm>
            <a:off x="5486400" y="2697480"/>
            <a:ext cx="2103120" cy="1371600"/>
          </a:xfrm>
          <a:prstGeom prst="roundRect">
            <a:avLst>
              <a:gd name="adj" fmla="val 6667"/>
            </a:avLst>
          </a:prstGeom>
          <a:solidFill>
            <a:srgbClr val="FFFFFF"/>
          </a:solidFill>
          <a:ln/>
          <a:effectLst>
            <a:outerShdw sx="100000" sy="100000" kx="0" ky="0" algn="bl" rotWithShape="0" blurRad="101600" dist="38100" dir="5400000">
              <a:srgbClr val="000000">
                <a:alpha val="13000"/>
              </a:srgbClr>
            </a:outerShdw>
          </a:effectLst>
        </p:spPr>
      </p:sp>
      <p:sp>
        <p:nvSpPr>
          <p:cNvPr id="12" name="Text 10"/>
          <p:cNvSpPr/>
          <p:nvPr/>
        </p:nvSpPr>
        <p:spPr>
          <a:xfrm>
            <a:off x="5486400" y="2834640"/>
            <a:ext cx="2103120" cy="777240"/>
          </a:xfrm>
          <a:prstGeom prst="rect">
            <a:avLst/>
          </a:prstGeom>
          <a:noFill/>
          <a:ln/>
        </p:spPr>
        <p:txBody>
          <a:bodyPr wrap="square" lIns="0" tIns="0" rIns="0" bIns="0" rtlCol="0" anchor="ctr"/>
          <a:lstStyle/>
          <a:p>
            <a:pPr algn="ctr" indent="0" marL="0">
              <a:buNone/>
            </a:pPr>
            <a:r>
              <a:rPr lang="en-US" sz="4800" b="1" dirty="0">
                <a:solidFill>
                  <a:srgbClr val="F5A623"/>
                </a:solidFill>
                <a:latin typeface="Bookman Old Style" pitchFamily="34" charset="0"/>
                <a:ea typeface="Bookman Old Style" pitchFamily="34" charset="-122"/>
                <a:cs typeface="Bookman Old Style" pitchFamily="34" charset="-120"/>
              </a:rPr>
              <a:t>2</a:t>
            </a:r>
            <a:endParaRPr lang="en-US" sz="4800" dirty="0"/>
          </a:p>
        </p:txBody>
      </p:sp>
      <p:sp>
        <p:nvSpPr>
          <p:cNvPr id="13" name="Text 11"/>
          <p:cNvSpPr/>
          <p:nvPr/>
        </p:nvSpPr>
        <p:spPr>
          <a:xfrm>
            <a:off x="5486400" y="3611880"/>
            <a:ext cx="2103120" cy="320040"/>
          </a:xfrm>
          <a:prstGeom prst="rect">
            <a:avLst/>
          </a:prstGeom>
          <a:noFill/>
          <a:ln/>
        </p:spPr>
        <p:txBody>
          <a:bodyPr wrap="square" lIns="0" tIns="0" rIns="0" bIns="0" rtlCol="0" anchor="ctr"/>
          <a:lstStyle/>
          <a:p>
            <a:pPr algn="ctr" indent="0" marL="0">
              <a:buNone/>
            </a:pPr>
            <a:r>
              <a:rPr lang="en-US" sz="1200" b="1" spc="100" kern="0" dirty="0">
                <a:solidFill>
                  <a:srgbClr val="5C6B7E"/>
                </a:solidFill>
                <a:latin typeface="Calibri" pitchFamily="34" charset="0"/>
                <a:ea typeface="Calibri" pitchFamily="34" charset="-122"/>
                <a:cs typeface="Calibri" pitchFamily="34" charset="-120"/>
              </a:rPr>
              <a:t>PLATFORMS</a:t>
            </a:r>
            <a:endParaRPr lang="en-US" sz="1200" dirty="0"/>
          </a:p>
        </p:txBody>
      </p:sp>
      <p:sp>
        <p:nvSpPr>
          <p:cNvPr id="14" name="Text 12"/>
          <p:cNvSpPr/>
          <p:nvPr/>
        </p:nvSpPr>
        <p:spPr>
          <a:xfrm>
            <a:off x="7863840" y="2468880"/>
            <a:ext cx="3474720" cy="274320"/>
          </a:xfrm>
          <a:prstGeom prst="rect">
            <a:avLst/>
          </a:prstGeom>
          <a:noFill/>
          <a:ln/>
        </p:spPr>
        <p:txBody>
          <a:bodyPr wrap="square" lIns="0" tIns="0" rIns="0" bIns="0" rtlCol="0" anchor="ctr"/>
          <a:lstStyle/>
          <a:p>
            <a:pPr indent="0" marL="0">
              <a:buNone/>
            </a:pPr>
            <a:r>
              <a:rPr lang="en-US" sz="1200" b="1" spc="200" kern="0" dirty="0">
                <a:solidFill>
                  <a:srgbClr val="0FB67E"/>
                </a:solidFill>
                <a:latin typeface="Calibri" pitchFamily="34" charset="0"/>
                <a:ea typeface="Calibri" pitchFamily="34" charset="-122"/>
                <a:cs typeface="Calibri" pitchFamily="34" charset="-120"/>
              </a:rPr>
              <a:t>HOW IT WORKS</a:t>
            </a:r>
            <a:endParaRPr lang="en-US" sz="1200" dirty="0"/>
          </a:p>
        </p:txBody>
      </p:sp>
      <p:sp>
        <p:nvSpPr>
          <p:cNvPr id="15" name="Text 13"/>
          <p:cNvSpPr/>
          <p:nvPr/>
        </p:nvSpPr>
        <p:spPr>
          <a:xfrm>
            <a:off x="7863840" y="2834640"/>
            <a:ext cx="731520" cy="640080"/>
          </a:xfrm>
          <a:prstGeom prst="rect">
            <a:avLst/>
          </a:prstGeom>
          <a:noFill/>
          <a:ln/>
        </p:spPr>
        <p:txBody>
          <a:bodyPr wrap="square" lIns="0" tIns="0" rIns="0" bIns="0" rtlCol="0" anchor="ctr"/>
          <a:lstStyle/>
          <a:p>
            <a:pPr indent="0" marL="0">
              <a:buNone/>
            </a:pPr>
            <a:r>
              <a:rPr lang="en-US" sz="2600" b="1" dirty="0">
                <a:solidFill>
                  <a:srgbClr val="C7D0DB"/>
                </a:solidFill>
                <a:latin typeface="Bookman Old Style" pitchFamily="34" charset="0"/>
                <a:ea typeface="Bookman Old Style" pitchFamily="34" charset="-122"/>
                <a:cs typeface="Bookman Old Style" pitchFamily="34" charset="-120"/>
              </a:rPr>
              <a:t>01</a:t>
            </a:r>
            <a:endParaRPr lang="en-US" sz="2600" dirty="0"/>
          </a:p>
        </p:txBody>
      </p:sp>
      <p:sp>
        <p:nvSpPr>
          <p:cNvPr id="16" name="Text 14"/>
          <p:cNvSpPr/>
          <p:nvPr/>
        </p:nvSpPr>
        <p:spPr>
          <a:xfrm>
            <a:off x="8641080" y="2816352"/>
            <a:ext cx="3200400" cy="365760"/>
          </a:xfrm>
          <a:prstGeom prst="rect">
            <a:avLst/>
          </a:prstGeom>
          <a:noFill/>
          <a:ln/>
        </p:spPr>
        <p:txBody>
          <a:bodyPr wrap="square" lIns="0" tIns="0" rIns="0" bIns="0" rtlCol="0" anchor="ctr"/>
          <a:lstStyle/>
          <a:p>
            <a:pPr indent="0" marL="0">
              <a:buNone/>
            </a:pPr>
            <a:r>
              <a:rPr lang="en-US" sz="1700" b="1" dirty="0">
                <a:solidFill>
                  <a:srgbClr val="1A2230"/>
                </a:solidFill>
                <a:latin typeface="Bookman Old Style" pitchFamily="34" charset="0"/>
                <a:ea typeface="Bookman Old Style" pitchFamily="34" charset="-122"/>
                <a:cs typeface="Bookman Old Style" pitchFamily="34" charset="-120"/>
              </a:rPr>
              <a:t>Run</a:t>
            </a:r>
            <a:endParaRPr lang="en-US" sz="1700" dirty="0"/>
          </a:p>
        </p:txBody>
      </p:sp>
      <p:sp>
        <p:nvSpPr>
          <p:cNvPr id="17" name="Text 15"/>
          <p:cNvSpPr/>
          <p:nvPr/>
        </p:nvSpPr>
        <p:spPr>
          <a:xfrm>
            <a:off x="8641080" y="3163824"/>
            <a:ext cx="3291840" cy="457200"/>
          </a:xfrm>
          <a:prstGeom prst="rect">
            <a:avLst/>
          </a:prstGeom>
          <a:noFill/>
          <a:ln/>
        </p:spPr>
        <p:txBody>
          <a:bodyPr wrap="square" lIns="0" tIns="0" rIns="0" bIns="0" rtlCol="0" anchor="ctr"/>
          <a:lstStyle/>
          <a:p>
            <a:pPr indent="0" marL="0">
              <a:lnSpc>
                <a:spcPts val="1700"/>
              </a:lnSpc>
              <a:buNone/>
            </a:pPr>
            <a:r>
              <a:rPr lang="en-US" sz="1300" dirty="0">
                <a:solidFill>
                  <a:srgbClr val="5C6B7E"/>
                </a:solidFill>
                <a:latin typeface="Calibri" pitchFamily="34" charset="0"/>
                <a:ea typeface="Calibri" pitchFamily="34" charset="-122"/>
                <a:cs typeface="Calibri" pitchFamily="34" charset="-120"/>
              </a:rPr>
              <a:t>One command collects hardware info locally.</a:t>
            </a:r>
            <a:endParaRPr lang="en-US" sz="1300" dirty="0"/>
          </a:p>
        </p:txBody>
      </p:sp>
      <p:sp>
        <p:nvSpPr>
          <p:cNvPr id="18" name="Text 16"/>
          <p:cNvSpPr/>
          <p:nvPr/>
        </p:nvSpPr>
        <p:spPr>
          <a:xfrm>
            <a:off x="7863840" y="3886200"/>
            <a:ext cx="731520" cy="640080"/>
          </a:xfrm>
          <a:prstGeom prst="rect">
            <a:avLst/>
          </a:prstGeom>
          <a:noFill/>
          <a:ln/>
        </p:spPr>
        <p:txBody>
          <a:bodyPr wrap="square" lIns="0" tIns="0" rIns="0" bIns="0" rtlCol="0" anchor="ctr"/>
          <a:lstStyle/>
          <a:p>
            <a:pPr indent="0" marL="0">
              <a:buNone/>
            </a:pPr>
            <a:r>
              <a:rPr lang="en-US" sz="2600" b="1" dirty="0">
                <a:solidFill>
                  <a:srgbClr val="C7D0DB"/>
                </a:solidFill>
                <a:latin typeface="Bookman Old Style" pitchFamily="34" charset="0"/>
                <a:ea typeface="Bookman Old Style" pitchFamily="34" charset="-122"/>
                <a:cs typeface="Bookman Old Style" pitchFamily="34" charset="-120"/>
              </a:rPr>
              <a:t>02</a:t>
            </a:r>
            <a:endParaRPr lang="en-US" sz="2600" dirty="0"/>
          </a:p>
        </p:txBody>
      </p:sp>
      <p:sp>
        <p:nvSpPr>
          <p:cNvPr id="19" name="Text 17"/>
          <p:cNvSpPr/>
          <p:nvPr/>
        </p:nvSpPr>
        <p:spPr>
          <a:xfrm>
            <a:off x="8641080" y="3867912"/>
            <a:ext cx="3200400" cy="365760"/>
          </a:xfrm>
          <a:prstGeom prst="rect">
            <a:avLst/>
          </a:prstGeom>
          <a:noFill/>
          <a:ln/>
        </p:spPr>
        <p:txBody>
          <a:bodyPr wrap="square" lIns="0" tIns="0" rIns="0" bIns="0" rtlCol="0" anchor="ctr"/>
          <a:lstStyle/>
          <a:p>
            <a:pPr indent="0" marL="0">
              <a:buNone/>
            </a:pPr>
            <a:r>
              <a:rPr lang="en-US" sz="1700" b="1" dirty="0">
                <a:solidFill>
                  <a:srgbClr val="1A2230"/>
                </a:solidFill>
                <a:latin typeface="Bookman Old Style" pitchFamily="34" charset="0"/>
                <a:ea typeface="Bookman Old Style" pitchFamily="34" charset="-122"/>
                <a:cs typeface="Bookman Old Style" pitchFamily="34" charset="-120"/>
              </a:rPr>
              <a:t>Submit</a:t>
            </a:r>
            <a:endParaRPr lang="en-US" sz="1700" dirty="0"/>
          </a:p>
        </p:txBody>
      </p:sp>
      <p:sp>
        <p:nvSpPr>
          <p:cNvPr id="20" name="Text 18"/>
          <p:cNvSpPr/>
          <p:nvPr/>
        </p:nvSpPr>
        <p:spPr>
          <a:xfrm>
            <a:off x="8641080" y="4215384"/>
            <a:ext cx="3291840" cy="457200"/>
          </a:xfrm>
          <a:prstGeom prst="rect">
            <a:avLst/>
          </a:prstGeom>
          <a:noFill/>
          <a:ln/>
        </p:spPr>
        <p:txBody>
          <a:bodyPr wrap="square" lIns="0" tIns="0" rIns="0" bIns="0" rtlCol="0" anchor="ctr"/>
          <a:lstStyle/>
          <a:p>
            <a:pPr indent="0" marL="0">
              <a:lnSpc>
                <a:spcPts val="1700"/>
              </a:lnSpc>
              <a:buNone/>
            </a:pPr>
            <a:r>
              <a:rPr lang="en-US" sz="1300" dirty="0">
                <a:solidFill>
                  <a:srgbClr val="5C6B7E"/>
                </a:solidFill>
                <a:latin typeface="Calibri" pitchFamily="34" charset="0"/>
                <a:ea typeface="Calibri" pitchFamily="34" charset="-122"/>
                <a:cs typeface="Calibri" pitchFamily="34" charset="-120"/>
              </a:rPr>
              <a:t>Paste the JSON into the GitHub issue form.</a:t>
            </a:r>
            <a:endParaRPr lang="en-US" sz="1300" dirty="0"/>
          </a:p>
        </p:txBody>
      </p:sp>
      <p:sp>
        <p:nvSpPr>
          <p:cNvPr id="21" name="Text 19"/>
          <p:cNvSpPr/>
          <p:nvPr/>
        </p:nvSpPr>
        <p:spPr>
          <a:xfrm>
            <a:off x="7863840" y="4937760"/>
            <a:ext cx="731520" cy="640080"/>
          </a:xfrm>
          <a:prstGeom prst="rect">
            <a:avLst/>
          </a:prstGeom>
          <a:noFill/>
          <a:ln/>
        </p:spPr>
        <p:txBody>
          <a:bodyPr wrap="square" lIns="0" tIns="0" rIns="0" bIns="0" rtlCol="0" anchor="ctr"/>
          <a:lstStyle/>
          <a:p>
            <a:pPr indent="0" marL="0">
              <a:buNone/>
            </a:pPr>
            <a:r>
              <a:rPr lang="en-US" sz="2600" b="1" dirty="0">
                <a:solidFill>
                  <a:srgbClr val="C7D0DB"/>
                </a:solidFill>
                <a:latin typeface="Bookman Old Style" pitchFamily="34" charset="0"/>
                <a:ea typeface="Bookman Old Style" pitchFamily="34" charset="-122"/>
                <a:cs typeface="Bookman Old Style" pitchFamily="34" charset="-120"/>
              </a:rPr>
              <a:t>03</a:t>
            </a:r>
            <a:endParaRPr lang="en-US" sz="2600" dirty="0"/>
          </a:p>
        </p:txBody>
      </p:sp>
      <p:sp>
        <p:nvSpPr>
          <p:cNvPr id="22" name="Text 20"/>
          <p:cNvSpPr/>
          <p:nvPr/>
        </p:nvSpPr>
        <p:spPr>
          <a:xfrm>
            <a:off x="8641080" y="4919472"/>
            <a:ext cx="3200400" cy="365760"/>
          </a:xfrm>
          <a:prstGeom prst="rect">
            <a:avLst/>
          </a:prstGeom>
          <a:noFill/>
          <a:ln/>
        </p:spPr>
        <p:txBody>
          <a:bodyPr wrap="square" lIns="0" tIns="0" rIns="0" bIns="0" rtlCol="0" anchor="ctr"/>
          <a:lstStyle/>
          <a:p>
            <a:pPr indent="0" marL="0">
              <a:buNone/>
            </a:pPr>
            <a:r>
              <a:rPr lang="en-US" sz="1700" b="1" dirty="0">
                <a:solidFill>
                  <a:srgbClr val="1A2230"/>
                </a:solidFill>
                <a:latin typeface="Bookman Old Style" pitchFamily="34" charset="0"/>
                <a:ea typeface="Bookman Old Style" pitchFamily="34" charset="-122"/>
                <a:cs typeface="Bookman Old Style" pitchFamily="34" charset="-120"/>
              </a:rPr>
              <a:t>Published</a:t>
            </a:r>
            <a:endParaRPr lang="en-US" sz="1700" dirty="0"/>
          </a:p>
        </p:txBody>
      </p:sp>
      <p:sp>
        <p:nvSpPr>
          <p:cNvPr id="23" name="Text 21"/>
          <p:cNvSpPr/>
          <p:nvPr/>
        </p:nvSpPr>
        <p:spPr>
          <a:xfrm>
            <a:off x="8641080" y="5266944"/>
            <a:ext cx="3291840" cy="457200"/>
          </a:xfrm>
          <a:prstGeom prst="rect">
            <a:avLst/>
          </a:prstGeom>
          <a:noFill/>
          <a:ln/>
        </p:spPr>
        <p:txBody>
          <a:bodyPr wrap="square" lIns="0" tIns="0" rIns="0" bIns="0" rtlCol="0" anchor="ctr"/>
          <a:lstStyle/>
          <a:p>
            <a:pPr indent="0" marL="0">
              <a:lnSpc>
                <a:spcPts val="1700"/>
              </a:lnSpc>
              <a:buNone/>
            </a:pPr>
            <a:r>
              <a:rPr lang="en-US" sz="1300" dirty="0">
                <a:solidFill>
                  <a:srgbClr val="5C6B7E"/>
                </a:solidFill>
                <a:latin typeface="Calibri" pitchFamily="34" charset="0"/>
                <a:ea typeface="Calibri" pitchFamily="34" charset="-122"/>
                <a:cs typeface="Calibri" pitchFamily="34" charset="-120"/>
              </a:rPr>
              <a:t>Validated and searchable within a minute.</a:t>
            </a:r>
            <a:endParaRPr lang="en-US" sz="1300" dirty="0"/>
          </a:p>
        </p:txBody>
      </p:sp>
      <p:sp>
        <p:nvSpPr>
          <p:cNvPr id="24" name="Text 22"/>
          <p:cNvSpPr/>
          <p:nvPr/>
        </p:nvSpPr>
        <p:spPr>
          <a:xfrm>
            <a:off x="822960" y="4617720"/>
            <a:ext cx="5852160" cy="457200"/>
          </a:xfrm>
          <a:prstGeom prst="rect">
            <a:avLst/>
          </a:prstGeom>
          <a:noFill/>
          <a:ln/>
        </p:spPr>
        <p:txBody>
          <a:bodyPr wrap="square" lIns="0" tIns="0" rIns="0" bIns="0" rtlCol="0" anchor="ctr"/>
          <a:lstStyle/>
          <a:p>
            <a:pPr indent="0" marL="0">
              <a:buNone/>
            </a:pPr>
            <a:r>
              <a:rPr lang="en-US" sz="1300" b="1" dirty="0">
                <a:solidFill>
                  <a:srgbClr val="0FB67E"/>
                </a:solidFill>
                <a:latin typeface="Courier New" pitchFamily="34" charset="0"/>
                <a:ea typeface="Courier New" pitchFamily="34" charset="-122"/>
                <a:cs typeface="Courier New" pitchFamily="34" charset="-120"/>
              </a:rPr>
              <a:t>kernelchief.github.io/almalinux-me-hardware-catalog</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B67E"/>
        </a:solidFill>
      </p:bgPr>
    </p:bg>
    <p:spTree>
      <p:nvGrpSpPr>
        <p:cNvPr id="1" name=""/>
        <p:cNvGrpSpPr/>
        <p:nvPr/>
      </p:nvGrpSpPr>
      <p:grpSpPr>
        <a:xfrm>
          <a:off x="0" y="0"/>
          <a:ext cx="0" cy="0"/>
          <a:chOff x="0" y="0"/>
          <a:chExt cx="0" cy="0"/>
        </a:xfrm>
      </p:grpSpPr>
      <p:sp>
        <p:nvSpPr>
          <p:cNvPr id="2" name="Shape 0"/>
          <p:cNvSpPr/>
          <p:nvPr/>
        </p:nvSpPr>
        <p:spPr>
          <a:xfrm>
            <a:off x="822960" y="822960"/>
            <a:ext cx="1371600" cy="1371600"/>
          </a:xfrm>
          <a:prstGeom prst="ellipse">
            <a:avLst/>
          </a:prstGeom>
          <a:solidFill>
            <a:srgbClr val="0A8F61"/>
          </a:solidFill>
          <a:ln/>
        </p:spPr>
      </p:sp>
      <p:pic>
        <p:nvPicPr>
          <p:cNvPr id="3" name="Image 0" descr="preencoded.png"/>
          <p:cNvPicPr>
            <a:picLocks noChangeAspect="1"/>
          </p:cNvPicPr>
          <p:nvPr/>
        </p:nvPicPr>
        <p:blipFill>
          <a:blip r:embed="rId1"/>
          <a:stretch>
            <a:fillRect/>
          </a:stretch>
        </p:blipFill>
        <p:spPr>
          <a:xfrm>
            <a:off x="1261872" y="1243584"/>
            <a:ext cx="502920" cy="502920"/>
          </a:xfrm>
          <a:prstGeom prst="rect">
            <a:avLst/>
          </a:prstGeom>
        </p:spPr>
      </p:pic>
      <p:sp>
        <p:nvSpPr>
          <p:cNvPr id="4" name="Text 1"/>
          <p:cNvSpPr/>
          <p:nvPr/>
        </p:nvSpPr>
        <p:spPr>
          <a:xfrm>
            <a:off x="2468880" y="914400"/>
            <a:ext cx="7315200" cy="411480"/>
          </a:xfrm>
          <a:prstGeom prst="rect">
            <a:avLst/>
          </a:prstGeom>
          <a:noFill/>
          <a:ln/>
        </p:spPr>
        <p:txBody>
          <a:bodyPr wrap="square" lIns="0" tIns="0" rIns="0" bIns="0" rtlCol="0" anchor="ctr"/>
          <a:lstStyle/>
          <a:p>
            <a:pPr indent="0" marL="0">
              <a:buNone/>
            </a:pPr>
            <a:r>
              <a:rPr lang="en-US" sz="1600" b="1" spc="400" kern="0" dirty="0">
                <a:solidFill>
                  <a:srgbClr val="07321F"/>
                </a:solidFill>
                <a:latin typeface="Calibri" pitchFamily="34" charset="0"/>
                <a:ea typeface="Calibri" pitchFamily="34" charset="-122"/>
                <a:cs typeface="Calibri" pitchFamily="34" charset="-120"/>
              </a:rPr>
              <a:t>LIVE DEMO</a:t>
            </a:r>
            <a:endParaRPr lang="en-US" sz="1600" dirty="0"/>
          </a:p>
        </p:txBody>
      </p:sp>
      <p:sp>
        <p:nvSpPr>
          <p:cNvPr id="5" name="Text 2"/>
          <p:cNvSpPr/>
          <p:nvPr/>
        </p:nvSpPr>
        <p:spPr>
          <a:xfrm>
            <a:off x="2423160" y="1280160"/>
            <a:ext cx="8961120" cy="822960"/>
          </a:xfrm>
          <a:prstGeom prst="rect">
            <a:avLst/>
          </a:prstGeom>
          <a:noFill/>
          <a:ln/>
        </p:spPr>
        <p:txBody>
          <a:bodyPr wrap="square" lIns="0" tIns="0" rIns="0" bIns="0" rtlCol="0" anchor="ctr"/>
          <a:lstStyle/>
          <a:p>
            <a:pPr indent="0" marL="0">
              <a:buNone/>
            </a:pPr>
            <a:r>
              <a:rPr lang="en-US" sz="3600" b="1" dirty="0">
                <a:solidFill>
                  <a:srgbClr val="0E1116"/>
                </a:solidFill>
                <a:latin typeface="Bookman Old Style" pitchFamily="34" charset="0"/>
                <a:ea typeface="Bookman Old Style" pitchFamily="34" charset="-122"/>
                <a:cs typeface="Bookman Old Style" pitchFamily="34" charset="-120"/>
              </a:rPr>
              <a:t>Submit a rig in under a minute</a:t>
            </a:r>
            <a:endParaRPr lang="en-US" sz="3600" dirty="0"/>
          </a:p>
        </p:txBody>
      </p:sp>
      <p:sp>
        <p:nvSpPr>
          <p:cNvPr id="6" name="Shape 3"/>
          <p:cNvSpPr/>
          <p:nvPr/>
        </p:nvSpPr>
        <p:spPr>
          <a:xfrm>
            <a:off x="822960" y="2651760"/>
            <a:ext cx="10515600" cy="3291840"/>
          </a:xfrm>
          <a:prstGeom prst="roundRect">
            <a:avLst>
              <a:gd name="adj" fmla="val 3333"/>
            </a:avLst>
          </a:prstGeom>
          <a:solidFill>
            <a:srgbClr val="0E1116"/>
          </a:solidFill>
          <a:ln/>
          <a:effectLst>
            <a:outerShdw sx="100000" sy="100000" kx="0" ky="0" algn="bl" rotWithShape="0" blurRad="152400" dist="50800" dir="5400000">
              <a:srgbClr val="000000">
                <a:alpha val="20000"/>
              </a:srgbClr>
            </a:outerShdw>
          </a:effectLst>
        </p:spPr>
      </p:sp>
      <p:sp>
        <p:nvSpPr>
          <p:cNvPr id="7" name="Text 4"/>
          <p:cNvSpPr/>
          <p:nvPr/>
        </p:nvSpPr>
        <p:spPr>
          <a:xfrm>
            <a:off x="1234440" y="2926080"/>
            <a:ext cx="9144000" cy="320040"/>
          </a:xfrm>
          <a:prstGeom prst="rect">
            <a:avLst/>
          </a:prstGeom>
          <a:noFill/>
          <a:ln/>
        </p:spPr>
        <p:txBody>
          <a:bodyPr wrap="square" lIns="0" tIns="0" rIns="0" bIns="0" rtlCol="0" anchor="ctr"/>
          <a:lstStyle/>
          <a:p>
            <a:pPr indent="0" marL="0">
              <a:buNone/>
            </a:pPr>
            <a:r>
              <a:rPr lang="en-US" sz="1300" b="1" spc="200" kern="0" dirty="0">
                <a:solidFill>
                  <a:srgbClr val="16C98D"/>
                </a:solidFill>
                <a:latin typeface="Calibri" pitchFamily="34" charset="0"/>
                <a:ea typeface="Calibri" pitchFamily="34" charset="-122"/>
                <a:cs typeface="Calibri" pitchFamily="34" charset="-120"/>
              </a:rPr>
              <a:t>DEMO RUN-SHEET</a:t>
            </a:r>
            <a:endParaRPr lang="en-US" sz="1300" dirty="0"/>
          </a:p>
        </p:txBody>
      </p:sp>
      <p:sp>
        <p:nvSpPr>
          <p:cNvPr id="8" name="Shape 5"/>
          <p:cNvSpPr/>
          <p:nvPr/>
        </p:nvSpPr>
        <p:spPr>
          <a:xfrm>
            <a:off x="1234440" y="3291840"/>
            <a:ext cx="9692640" cy="566928"/>
          </a:xfrm>
          <a:prstGeom prst="roundRect">
            <a:avLst>
              <a:gd name="adj" fmla="val 9677"/>
            </a:avLst>
          </a:prstGeom>
          <a:solidFill>
            <a:srgbClr val="060809"/>
          </a:solidFill>
          <a:ln/>
        </p:spPr>
      </p:sp>
      <p:sp>
        <p:nvSpPr>
          <p:cNvPr id="9" name="Text 6"/>
          <p:cNvSpPr/>
          <p:nvPr/>
        </p:nvSpPr>
        <p:spPr>
          <a:xfrm>
            <a:off x="1417320" y="3383280"/>
            <a:ext cx="9326880" cy="384048"/>
          </a:xfrm>
          <a:prstGeom prst="rect">
            <a:avLst/>
          </a:prstGeom>
          <a:noFill/>
          <a:ln/>
        </p:spPr>
        <p:txBody>
          <a:bodyPr wrap="square" lIns="0" tIns="0" rIns="0" bIns="0" rtlCol="0" anchor="ctr"/>
          <a:lstStyle/>
          <a:p>
            <a:pPr indent="0" marL="0">
              <a:buNone/>
            </a:pPr>
            <a:r>
              <a:rPr lang="en-US" sz="1300" dirty="0">
                <a:solidFill>
                  <a:srgbClr val="16C98D"/>
                </a:solidFill>
                <a:latin typeface="Courier New" pitchFamily="34" charset="0"/>
                <a:ea typeface="Courier New" pitchFamily="34" charset="-122"/>
                <a:cs typeface="Courier New" pitchFamily="34" charset="-120"/>
              </a:rPr>
              <a:t xml:space="preserve">$ </a:t>
            </a:r>
            <a:pPr indent="0" marL="0">
              <a:buNone/>
            </a:pPr>
            <a:r>
              <a:rPr lang="en-US" sz="1300" dirty="0">
                <a:solidFill>
                  <a:srgbClr val="F4F6F9"/>
                </a:solidFill>
                <a:latin typeface="Courier New" pitchFamily="34" charset="0"/>
                <a:ea typeface="Courier New" pitchFamily="34" charset="-122"/>
                <a:cs typeface="Courier New" pitchFamily="34" charset="-120"/>
              </a:rPr>
              <a:t>bash &lt;(curl -sL .../almalinux-me-hardware-survey-reporter.sh)</a:t>
            </a:r>
            <a:endParaRPr lang="en-US" sz="1300" dirty="0"/>
          </a:p>
        </p:txBody>
      </p:sp>
      <p:sp>
        <p:nvSpPr>
          <p:cNvPr id="10" name="Text 7"/>
          <p:cNvSpPr/>
          <p:nvPr/>
        </p:nvSpPr>
        <p:spPr>
          <a:xfrm>
            <a:off x="1234440" y="4069080"/>
            <a:ext cx="9692640" cy="1783080"/>
          </a:xfrm>
          <a:prstGeom prst="rect">
            <a:avLst/>
          </a:prstGeom>
          <a:noFill/>
          <a:ln/>
        </p:spPr>
        <p:txBody>
          <a:bodyPr wrap="square" lIns="0" tIns="0" rIns="0" bIns="0" rtlCol="0" anchor="ctr"/>
          <a:lstStyle/>
          <a:p>
            <a:pPr algn="l" indent="0" marL="0">
              <a:lnSpc>
                <a:spcPts val="2100"/>
              </a:lnSpc>
              <a:buNone/>
            </a:pPr>
            <a:r>
              <a:rPr lang="en-US" sz="1550" b="1" dirty="0">
                <a:solidFill>
                  <a:srgbClr val="F4F6F9"/>
                </a:solidFill>
                <a:latin typeface="Calibri" pitchFamily="34" charset="0"/>
                <a:ea typeface="Calibri" pitchFamily="34" charset="-122"/>
                <a:cs typeface="Calibri" pitchFamily="34" charset="-120"/>
              </a:rPr>
              <a:t>1.  Run the one-liner</a:t>
            </a:r>
            <a:endParaRPr lang="en-US" sz="1550" dirty="0"/>
          </a:p>
          <a:p>
            <a:pPr algn="l" indent="0" marL="0">
              <a:lnSpc>
                <a:spcPts val="2100"/>
              </a:lnSpc>
              <a:buNone/>
            </a:pPr>
            <a:r>
              <a:rPr lang="en-US" sz="1300" dirty="0">
                <a:solidFill>
                  <a:srgbClr val="9AA7B8"/>
                </a:solidFill>
                <a:latin typeface="Calibri" pitchFamily="34" charset="0"/>
                <a:ea typeface="Calibri" pitchFamily="34" charset="-122"/>
                <a:cs typeface="Calibri" pitchFamily="34" charset="-120"/>
              </a:rPr>
              <a:t xml:space="preserve">      Collects hardware locally, writes JSON, copies to clipboard.</a:t>
            </a:r>
            <a:endParaRPr lang="en-US" sz="1550" dirty="0"/>
          </a:p>
          <a:p>
            <a:pPr algn="l" indent="0" marL="0">
              <a:lnSpc>
                <a:spcPts val="2100"/>
              </a:lnSpc>
              <a:buNone/>
            </a:pPr>
            <a:r>
              <a:rPr lang="en-US" sz="1550" b="1" dirty="0">
                <a:solidFill>
                  <a:srgbClr val="F4F6F9"/>
                </a:solidFill>
                <a:latin typeface="Calibri" pitchFamily="34" charset="0"/>
                <a:ea typeface="Calibri" pitchFamily="34" charset="-122"/>
                <a:cs typeface="Calibri" pitchFamily="34" charset="-120"/>
              </a:rPr>
              <a:t>2.  GitHub issue form opens</a:t>
            </a:r>
            <a:endParaRPr lang="en-US" sz="1550" dirty="0"/>
          </a:p>
          <a:p>
            <a:pPr algn="l" indent="0" marL="0">
              <a:lnSpc>
                <a:spcPts val="2100"/>
              </a:lnSpc>
              <a:buNone/>
            </a:pPr>
            <a:r>
              <a:rPr lang="en-US" sz="1300" dirty="0">
                <a:solidFill>
                  <a:srgbClr val="9AA7B8"/>
                </a:solidFill>
                <a:latin typeface="Calibri" pitchFamily="34" charset="0"/>
                <a:ea typeface="Calibri" pitchFamily="34" charset="-122"/>
                <a:cs typeface="Calibri" pitchFamily="34" charset="-120"/>
              </a:rPr>
              <a:t xml:space="preserve">      Paste the JSON — no hostnames or serials are collected.</a:t>
            </a:r>
            <a:endParaRPr lang="en-US" sz="1550" dirty="0"/>
          </a:p>
          <a:p>
            <a:pPr algn="l" indent="0" marL="0">
              <a:lnSpc>
                <a:spcPts val="2100"/>
              </a:lnSpc>
              <a:buNone/>
            </a:pPr>
            <a:r>
              <a:rPr lang="en-US" sz="1550" b="1" dirty="0">
                <a:solidFill>
                  <a:srgbClr val="F4F6F9"/>
                </a:solidFill>
                <a:latin typeface="Calibri" pitchFamily="34" charset="0"/>
                <a:ea typeface="Calibri" pitchFamily="34" charset="-122"/>
                <a:cs typeface="Calibri" pitchFamily="34" charset="-120"/>
              </a:rPr>
              <a:t>3.  Submit → auto-validated → live</a:t>
            </a:r>
            <a:endParaRPr lang="en-US" sz="1550" dirty="0"/>
          </a:p>
          <a:p>
            <a:pPr algn="l" indent="0" marL="0">
              <a:lnSpc>
                <a:spcPts val="2100"/>
              </a:lnSpc>
              <a:buNone/>
            </a:pPr>
            <a:r>
              <a:rPr lang="en-US" sz="1300" dirty="0">
                <a:solidFill>
                  <a:srgbClr val="9AA7B8"/>
                </a:solidFill>
                <a:latin typeface="Calibri" pitchFamily="34" charset="0"/>
                <a:ea typeface="Calibri" pitchFamily="34" charset="-122"/>
                <a:cs typeface="Calibri" pitchFamily="34" charset="-120"/>
              </a:rPr>
              <a:t xml:space="preserve">      Searchable in the public database within a minute.</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822960" y="640080"/>
            <a:ext cx="5486400" cy="274320"/>
          </a:xfrm>
          <a:prstGeom prst="rect">
            <a:avLst/>
          </a:prstGeom>
          <a:noFill/>
          <a:ln/>
        </p:spPr>
        <p:txBody>
          <a:bodyPr wrap="square" lIns="0" tIns="0" rIns="0" bIns="0" rtlCol="0" anchor="ctr"/>
          <a:lstStyle/>
          <a:p>
            <a:pPr algn="l" indent="0" marL="0">
              <a:buNone/>
            </a:pPr>
            <a:r>
              <a:rPr lang="en-US" sz="1200" b="1" spc="300" kern="0" dirty="0">
                <a:solidFill>
                  <a:srgbClr val="16C98D"/>
                </a:solidFill>
                <a:latin typeface="Calibri" pitchFamily="34" charset="0"/>
                <a:ea typeface="Calibri" pitchFamily="34" charset="-122"/>
                <a:cs typeface="Calibri" pitchFamily="34" charset="-120"/>
              </a:rPr>
              <a:t>ROADMAP &amp; COLLABORATION</a:t>
            </a:r>
            <a:endParaRPr lang="en-US" sz="1200" dirty="0"/>
          </a:p>
        </p:txBody>
      </p:sp>
      <p:sp>
        <p:nvSpPr>
          <p:cNvPr id="3" name="Text 1"/>
          <p:cNvSpPr/>
          <p:nvPr/>
        </p:nvSpPr>
        <p:spPr>
          <a:xfrm>
            <a:off x="822960" y="914400"/>
            <a:ext cx="10515600" cy="822960"/>
          </a:xfrm>
          <a:prstGeom prst="rect">
            <a:avLst/>
          </a:prstGeom>
          <a:noFill/>
          <a:ln/>
        </p:spPr>
        <p:txBody>
          <a:bodyPr wrap="square" lIns="0" tIns="0" rIns="0" bIns="0" rtlCol="0" anchor="ctr"/>
          <a:lstStyle/>
          <a:p>
            <a:pPr indent="0" marL="0">
              <a:buNone/>
            </a:pPr>
            <a:r>
              <a:rPr lang="en-US" sz="3800" b="1" dirty="0">
                <a:solidFill>
                  <a:srgbClr val="F4F6F9"/>
                </a:solidFill>
                <a:latin typeface="Bookman Old Style" pitchFamily="34" charset="0"/>
                <a:ea typeface="Bookman Old Style" pitchFamily="34" charset="-122"/>
                <a:cs typeface="Bookman Old Style" pitchFamily="34" charset="-120"/>
              </a:rPr>
              <a:t>Use it today. Build it with us.</a:t>
            </a:r>
            <a:endParaRPr lang="en-US" sz="3800" dirty="0"/>
          </a:p>
        </p:txBody>
      </p:sp>
      <p:sp>
        <p:nvSpPr>
          <p:cNvPr id="4" name="Shape 2"/>
          <p:cNvSpPr/>
          <p:nvPr/>
        </p:nvSpPr>
        <p:spPr>
          <a:xfrm>
            <a:off x="822960" y="2240280"/>
            <a:ext cx="3429000" cy="2697480"/>
          </a:xfrm>
          <a:prstGeom prst="roundRect">
            <a:avLst>
              <a:gd name="adj" fmla="val 4068"/>
            </a:avLst>
          </a:prstGeom>
          <a:solidFill>
            <a:srgbClr val="171C24"/>
          </a:solidFill>
          <a:ln/>
          <a:effectLst>
            <a:outerShdw sx="100000" sy="100000" kx="0" ky="0" algn="bl" rotWithShape="0" blurRad="114300" dist="38100" dir="5400000">
              <a:srgbClr val="000000">
                <a:alpha val="30000"/>
              </a:srgbClr>
            </a:outerShdw>
          </a:effectLst>
        </p:spPr>
      </p:sp>
      <p:sp>
        <p:nvSpPr>
          <p:cNvPr id="5" name="Shape 3"/>
          <p:cNvSpPr/>
          <p:nvPr/>
        </p:nvSpPr>
        <p:spPr>
          <a:xfrm>
            <a:off x="1188720" y="2606040"/>
            <a:ext cx="777240" cy="777240"/>
          </a:xfrm>
          <a:prstGeom prst="ellipse">
            <a:avLst/>
          </a:prstGeom>
          <a:solidFill>
            <a:srgbClr val="1E2530"/>
          </a:solidFill>
          <a:ln/>
        </p:spPr>
      </p:sp>
      <p:pic>
        <p:nvPicPr>
          <p:cNvPr id="6" name="Image 0" descr="preencoded.png"/>
          <p:cNvPicPr>
            <a:picLocks noChangeAspect="1"/>
          </p:cNvPicPr>
          <p:nvPr/>
        </p:nvPicPr>
        <p:blipFill>
          <a:blip r:embed="rId1"/>
          <a:stretch>
            <a:fillRect/>
          </a:stretch>
        </p:blipFill>
        <p:spPr>
          <a:xfrm>
            <a:off x="1362456" y="2779776"/>
            <a:ext cx="429768" cy="429768"/>
          </a:xfrm>
          <a:prstGeom prst="rect">
            <a:avLst/>
          </a:prstGeom>
        </p:spPr>
      </p:pic>
      <p:sp>
        <p:nvSpPr>
          <p:cNvPr id="7" name="Text 4"/>
          <p:cNvSpPr/>
          <p:nvPr/>
        </p:nvSpPr>
        <p:spPr>
          <a:xfrm>
            <a:off x="1188720" y="3566160"/>
            <a:ext cx="2697480" cy="411480"/>
          </a:xfrm>
          <a:prstGeom prst="rect">
            <a:avLst/>
          </a:prstGeom>
          <a:noFill/>
          <a:ln/>
        </p:spPr>
        <p:txBody>
          <a:bodyPr wrap="square" lIns="0" tIns="0" rIns="0" bIns="0" rtlCol="0" anchor="ctr"/>
          <a:lstStyle/>
          <a:p>
            <a:pPr indent="0" marL="0">
              <a:buNone/>
            </a:pPr>
            <a:r>
              <a:rPr lang="en-US" sz="1900" b="1" dirty="0">
                <a:solidFill>
                  <a:srgbClr val="F4F6F9"/>
                </a:solidFill>
                <a:latin typeface="Bookman Old Style" pitchFamily="34" charset="0"/>
                <a:ea typeface="Bookman Old Style" pitchFamily="34" charset="-122"/>
                <a:cs typeface="Bookman Old Style" pitchFamily="34" charset="-120"/>
              </a:rPr>
              <a:t>AlmaLinux 10 + KDE</a:t>
            </a:r>
            <a:endParaRPr lang="en-US" sz="1900" dirty="0"/>
          </a:p>
        </p:txBody>
      </p:sp>
      <p:sp>
        <p:nvSpPr>
          <p:cNvPr id="8" name="Text 5"/>
          <p:cNvSpPr/>
          <p:nvPr/>
        </p:nvSpPr>
        <p:spPr>
          <a:xfrm>
            <a:off x="1188720" y="4023360"/>
            <a:ext cx="2697480" cy="822960"/>
          </a:xfrm>
          <a:prstGeom prst="rect">
            <a:avLst/>
          </a:prstGeom>
          <a:noFill/>
          <a:ln/>
        </p:spPr>
        <p:txBody>
          <a:bodyPr wrap="square" lIns="0" tIns="0" rIns="0" bIns="0" rtlCol="0" anchor="ctr"/>
          <a:lstStyle/>
          <a:p>
            <a:pPr indent="0" marL="0">
              <a:lnSpc>
                <a:spcPts val="1900"/>
              </a:lnSpc>
              <a:buNone/>
            </a:pPr>
            <a:r>
              <a:rPr lang="en-US" sz="1400" dirty="0">
                <a:solidFill>
                  <a:srgbClr val="9AA7B8"/>
                </a:solidFill>
                <a:latin typeface="Calibri" pitchFamily="34" charset="0"/>
                <a:ea typeface="Calibri" pitchFamily="34" charset="-122"/>
                <a:cs typeface="Calibri" pitchFamily="34" charset="-120"/>
              </a:rPr>
              <a:t>Pre-built with the Creative Installer, ready out of the box for M&amp;E work.</a:t>
            </a:r>
            <a:endParaRPr lang="en-US" sz="1400" dirty="0"/>
          </a:p>
        </p:txBody>
      </p:sp>
      <p:sp>
        <p:nvSpPr>
          <p:cNvPr id="9" name="Shape 6"/>
          <p:cNvSpPr/>
          <p:nvPr/>
        </p:nvSpPr>
        <p:spPr>
          <a:xfrm>
            <a:off x="4572000" y="2240280"/>
            <a:ext cx="3429000" cy="2697480"/>
          </a:xfrm>
          <a:prstGeom prst="roundRect">
            <a:avLst>
              <a:gd name="adj" fmla="val 4068"/>
            </a:avLst>
          </a:prstGeom>
          <a:solidFill>
            <a:srgbClr val="171C24"/>
          </a:solidFill>
          <a:ln/>
          <a:effectLst>
            <a:outerShdw sx="100000" sy="100000" kx="0" ky="0" algn="bl" rotWithShape="0" blurRad="114300" dist="38100" dir="5400000">
              <a:srgbClr val="000000">
                <a:alpha val="30000"/>
              </a:srgbClr>
            </a:outerShdw>
          </a:effectLst>
        </p:spPr>
      </p:sp>
      <p:sp>
        <p:nvSpPr>
          <p:cNvPr id="10" name="Shape 7"/>
          <p:cNvSpPr/>
          <p:nvPr/>
        </p:nvSpPr>
        <p:spPr>
          <a:xfrm>
            <a:off x="4937760" y="2606040"/>
            <a:ext cx="777240" cy="777240"/>
          </a:xfrm>
          <a:prstGeom prst="ellipse">
            <a:avLst/>
          </a:prstGeom>
          <a:solidFill>
            <a:srgbClr val="1E2530"/>
          </a:solidFill>
          <a:ln/>
        </p:spPr>
      </p:sp>
      <p:pic>
        <p:nvPicPr>
          <p:cNvPr id="11" name="Image 1" descr="preencoded.png"/>
          <p:cNvPicPr>
            <a:picLocks noChangeAspect="1"/>
          </p:cNvPicPr>
          <p:nvPr/>
        </p:nvPicPr>
        <p:blipFill>
          <a:blip r:embed="rId2"/>
          <a:stretch>
            <a:fillRect/>
          </a:stretch>
        </p:blipFill>
        <p:spPr>
          <a:xfrm>
            <a:off x="5111496" y="2779776"/>
            <a:ext cx="429768" cy="429768"/>
          </a:xfrm>
          <a:prstGeom prst="rect">
            <a:avLst/>
          </a:prstGeom>
        </p:spPr>
      </p:pic>
      <p:sp>
        <p:nvSpPr>
          <p:cNvPr id="12" name="Text 8"/>
          <p:cNvSpPr/>
          <p:nvPr/>
        </p:nvSpPr>
        <p:spPr>
          <a:xfrm>
            <a:off x="4937760" y="3566160"/>
            <a:ext cx="2697480" cy="411480"/>
          </a:xfrm>
          <a:prstGeom prst="rect">
            <a:avLst/>
          </a:prstGeom>
          <a:noFill/>
          <a:ln/>
        </p:spPr>
        <p:txBody>
          <a:bodyPr wrap="square" lIns="0" tIns="0" rIns="0" bIns="0" rtlCol="0" anchor="ctr"/>
          <a:lstStyle/>
          <a:p>
            <a:pPr indent="0" marL="0">
              <a:buNone/>
            </a:pPr>
            <a:r>
              <a:rPr lang="en-US" sz="1900" b="1" dirty="0">
                <a:solidFill>
                  <a:srgbClr val="F4F6F9"/>
                </a:solidFill>
                <a:latin typeface="Bookman Old Style" pitchFamily="34" charset="0"/>
                <a:ea typeface="Bookman Old Style" pitchFamily="34" charset="-122"/>
                <a:cs typeface="Bookman Old Style" pitchFamily="34" charset="-120"/>
              </a:rPr>
              <a:t>Wayland remote desktop</a:t>
            </a:r>
            <a:endParaRPr lang="en-US" sz="1900" dirty="0"/>
          </a:p>
        </p:txBody>
      </p:sp>
      <p:sp>
        <p:nvSpPr>
          <p:cNvPr id="13" name="Text 9"/>
          <p:cNvSpPr/>
          <p:nvPr/>
        </p:nvSpPr>
        <p:spPr>
          <a:xfrm>
            <a:off x="4937760" y="4023360"/>
            <a:ext cx="2697480" cy="822960"/>
          </a:xfrm>
          <a:prstGeom prst="rect">
            <a:avLst/>
          </a:prstGeom>
          <a:noFill/>
          <a:ln/>
        </p:spPr>
        <p:txBody>
          <a:bodyPr wrap="square" lIns="0" tIns="0" rIns="0" bIns="0" rtlCol="0" anchor="ctr"/>
          <a:lstStyle/>
          <a:p>
            <a:pPr indent="0" marL="0">
              <a:lnSpc>
                <a:spcPts val="1900"/>
              </a:lnSpc>
              <a:buNone/>
            </a:pPr>
            <a:r>
              <a:rPr lang="en-US" sz="1400" dirty="0">
                <a:solidFill>
                  <a:srgbClr val="9AA7B8"/>
                </a:solidFill>
                <a:latin typeface="Calibri" pitchFamily="34" charset="0"/>
                <a:ea typeface="Calibri" pitchFamily="34" charset="-122"/>
                <a:cs typeface="Calibri" pitchFamily="34" charset="-120"/>
              </a:rPr>
              <a:t>A full remote desktop solution built to support Wayland.</a:t>
            </a:r>
            <a:endParaRPr lang="en-US" sz="1400" dirty="0"/>
          </a:p>
        </p:txBody>
      </p:sp>
      <p:sp>
        <p:nvSpPr>
          <p:cNvPr id="14" name="Shape 10"/>
          <p:cNvSpPr/>
          <p:nvPr/>
        </p:nvSpPr>
        <p:spPr>
          <a:xfrm>
            <a:off x="8321040" y="2240280"/>
            <a:ext cx="3429000" cy="2697480"/>
          </a:xfrm>
          <a:prstGeom prst="roundRect">
            <a:avLst>
              <a:gd name="adj" fmla="val 4068"/>
            </a:avLst>
          </a:prstGeom>
          <a:solidFill>
            <a:srgbClr val="171C24"/>
          </a:solidFill>
          <a:ln/>
          <a:effectLst>
            <a:outerShdw sx="100000" sy="100000" kx="0" ky="0" algn="bl" rotWithShape="0" blurRad="114300" dist="38100" dir="5400000">
              <a:srgbClr val="000000">
                <a:alpha val="30000"/>
              </a:srgbClr>
            </a:outerShdw>
          </a:effectLst>
        </p:spPr>
      </p:sp>
      <p:sp>
        <p:nvSpPr>
          <p:cNvPr id="15" name="Shape 11"/>
          <p:cNvSpPr/>
          <p:nvPr/>
        </p:nvSpPr>
        <p:spPr>
          <a:xfrm>
            <a:off x="8686800" y="2606040"/>
            <a:ext cx="777240" cy="777240"/>
          </a:xfrm>
          <a:prstGeom prst="ellipse">
            <a:avLst/>
          </a:prstGeom>
          <a:solidFill>
            <a:srgbClr val="1E2530"/>
          </a:solidFill>
          <a:ln/>
        </p:spPr>
      </p:sp>
      <p:pic>
        <p:nvPicPr>
          <p:cNvPr id="16" name="Image 2" descr="preencoded.png"/>
          <p:cNvPicPr>
            <a:picLocks noChangeAspect="1"/>
          </p:cNvPicPr>
          <p:nvPr/>
        </p:nvPicPr>
        <p:blipFill>
          <a:blip r:embed="rId3"/>
          <a:stretch>
            <a:fillRect/>
          </a:stretch>
        </p:blipFill>
        <p:spPr>
          <a:xfrm>
            <a:off x="8860536" y="2779776"/>
            <a:ext cx="429768" cy="429768"/>
          </a:xfrm>
          <a:prstGeom prst="rect">
            <a:avLst/>
          </a:prstGeom>
        </p:spPr>
      </p:pic>
      <p:sp>
        <p:nvSpPr>
          <p:cNvPr id="17" name="Text 12"/>
          <p:cNvSpPr/>
          <p:nvPr/>
        </p:nvSpPr>
        <p:spPr>
          <a:xfrm>
            <a:off x="8686800" y="3566160"/>
            <a:ext cx="2697480" cy="411480"/>
          </a:xfrm>
          <a:prstGeom prst="rect">
            <a:avLst/>
          </a:prstGeom>
          <a:noFill/>
          <a:ln/>
        </p:spPr>
        <p:txBody>
          <a:bodyPr wrap="square" lIns="0" tIns="0" rIns="0" bIns="0" rtlCol="0" anchor="ctr"/>
          <a:lstStyle/>
          <a:p>
            <a:pPr indent="0" marL="0">
              <a:buNone/>
            </a:pPr>
            <a:r>
              <a:rPr lang="en-US" sz="1900" b="1" dirty="0">
                <a:solidFill>
                  <a:srgbClr val="F4F6F9"/>
                </a:solidFill>
                <a:latin typeface="Bookman Old Style" pitchFamily="34" charset="0"/>
                <a:ea typeface="Bookman Old Style" pitchFamily="34" charset="-122"/>
                <a:cs typeface="Bookman Old Style" pitchFamily="34" charset="-120"/>
              </a:rPr>
              <a:t>A growing app catalog</a:t>
            </a:r>
            <a:endParaRPr lang="en-US" sz="1900" dirty="0"/>
          </a:p>
        </p:txBody>
      </p:sp>
      <p:sp>
        <p:nvSpPr>
          <p:cNvPr id="18" name="Text 13"/>
          <p:cNvSpPr/>
          <p:nvPr/>
        </p:nvSpPr>
        <p:spPr>
          <a:xfrm>
            <a:off x="8686800" y="4023360"/>
            <a:ext cx="2697480" cy="822960"/>
          </a:xfrm>
          <a:prstGeom prst="rect">
            <a:avLst/>
          </a:prstGeom>
          <a:noFill/>
          <a:ln/>
        </p:spPr>
        <p:txBody>
          <a:bodyPr wrap="square" lIns="0" tIns="0" rIns="0" bIns="0" rtlCol="0" anchor="ctr"/>
          <a:lstStyle/>
          <a:p>
            <a:pPr indent="0" marL="0">
              <a:lnSpc>
                <a:spcPts val="1900"/>
              </a:lnSpc>
              <a:buNone/>
            </a:pPr>
            <a:r>
              <a:rPr lang="en-US" sz="1400" dirty="0">
                <a:solidFill>
                  <a:srgbClr val="9AA7B8"/>
                </a:solidFill>
                <a:latin typeface="Calibri" pitchFamily="34" charset="0"/>
                <a:ea typeface="Calibri" pitchFamily="34" charset="-122"/>
                <a:cs typeface="Calibri" pitchFamily="34" charset="-120"/>
              </a:rPr>
              <a:t>More apps landing soon — studios, freelancers, students, faster than ever.</a:t>
            </a:r>
            <a:endParaRPr lang="en-US" sz="1400" dirty="0"/>
          </a:p>
        </p:txBody>
      </p:sp>
      <p:sp>
        <p:nvSpPr>
          <p:cNvPr id="19" name="Shape 14"/>
          <p:cNvSpPr/>
          <p:nvPr/>
        </p:nvSpPr>
        <p:spPr>
          <a:xfrm>
            <a:off x="822960" y="5257800"/>
            <a:ext cx="10515600" cy="914400"/>
          </a:xfrm>
          <a:prstGeom prst="roundRect">
            <a:avLst>
              <a:gd name="adj" fmla="val 10000"/>
            </a:avLst>
          </a:prstGeom>
          <a:solidFill>
            <a:srgbClr val="0FB67E"/>
          </a:solidFill>
          <a:ln/>
        </p:spPr>
      </p:sp>
      <p:pic>
        <p:nvPicPr>
          <p:cNvPr id="20" name="Image 3" descr="preencoded.png"/>
          <p:cNvPicPr>
            <a:picLocks noChangeAspect="1"/>
          </p:cNvPicPr>
          <p:nvPr/>
        </p:nvPicPr>
        <p:blipFill>
          <a:blip r:embed="rId4"/>
          <a:stretch>
            <a:fillRect/>
          </a:stretch>
        </p:blipFill>
        <p:spPr>
          <a:xfrm>
            <a:off x="1234440" y="5550408"/>
            <a:ext cx="365760" cy="365760"/>
          </a:xfrm>
          <a:prstGeom prst="rect">
            <a:avLst/>
          </a:prstGeom>
        </p:spPr>
      </p:pic>
      <p:sp>
        <p:nvSpPr>
          <p:cNvPr id="21" name="Text 15"/>
          <p:cNvSpPr/>
          <p:nvPr/>
        </p:nvSpPr>
        <p:spPr>
          <a:xfrm>
            <a:off x="1783080" y="5440680"/>
            <a:ext cx="4206240" cy="365760"/>
          </a:xfrm>
          <a:prstGeom prst="rect">
            <a:avLst/>
          </a:prstGeom>
          <a:noFill/>
          <a:ln/>
        </p:spPr>
        <p:txBody>
          <a:bodyPr wrap="square" lIns="0" tIns="0" rIns="0" bIns="0" rtlCol="0" anchor="ctr"/>
          <a:lstStyle/>
          <a:p>
            <a:pPr indent="0" marL="0">
              <a:buNone/>
            </a:pPr>
            <a:r>
              <a:rPr lang="en-US" sz="1900" b="1" dirty="0">
                <a:solidFill>
                  <a:srgbClr val="0E1116"/>
                </a:solidFill>
                <a:latin typeface="Bookman Old Style" pitchFamily="34" charset="0"/>
                <a:ea typeface="Bookman Old Style" pitchFamily="34" charset="-122"/>
                <a:cs typeface="Bookman Old Style" pitchFamily="34" charset="-120"/>
              </a:rPr>
              <a:t>Join the M&amp;E SIG</a:t>
            </a:r>
            <a:endParaRPr lang="en-US" sz="1900" dirty="0"/>
          </a:p>
        </p:txBody>
      </p:sp>
      <p:sp>
        <p:nvSpPr>
          <p:cNvPr id="22" name="Text 16"/>
          <p:cNvSpPr/>
          <p:nvPr/>
        </p:nvSpPr>
        <p:spPr>
          <a:xfrm>
            <a:off x="1783080" y="5788152"/>
            <a:ext cx="4572000" cy="320040"/>
          </a:xfrm>
          <a:prstGeom prst="rect">
            <a:avLst/>
          </a:prstGeom>
          <a:noFill/>
          <a:ln/>
        </p:spPr>
        <p:txBody>
          <a:bodyPr wrap="square" lIns="0" tIns="0" rIns="0" bIns="0" rtlCol="0" anchor="ctr"/>
          <a:lstStyle/>
          <a:p>
            <a:pPr indent="0" marL="0">
              <a:buNone/>
            </a:pPr>
            <a:r>
              <a:rPr lang="en-US" sz="1200" dirty="0">
                <a:solidFill>
                  <a:srgbClr val="07321F"/>
                </a:solidFill>
                <a:latin typeface="Courier New" pitchFamily="34" charset="0"/>
                <a:ea typeface="Courier New" pitchFamily="34" charset="-122"/>
                <a:cs typeface="Courier New" pitchFamily="34" charset="-120"/>
              </a:rPr>
              <a:t>chat.almalinux.org → sig-media-entertainment</a:t>
            </a:r>
            <a:endParaRPr lang="en-US" sz="1200" dirty="0"/>
          </a:p>
        </p:txBody>
      </p:sp>
      <p:sp>
        <p:nvSpPr>
          <p:cNvPr id="23" name="Text 17"/>
          <p:cNvSpPr/>
          <p:nvPr/>
        </p:nvSpPr>
        <p:spPr>
          <a:xfrm>
            <a:off x="5852160" y="5257800"/>
            <a:ext cx="5120640" cy="914400"/>
          </a:xfrm>
          <a:prstGeom prst="rect">
            <a:avLst/>
          </a:prstGeom>
          <a:noFill/>
          <a:ln/>
        </p:spPr>
        <p:txBody>
          <a:bodyPr wrap="square" lIns="0" tIns="0" rIns="0" bIns="0" rtlCol="0" anchor="ctr"/>
          <a:lstStyle/>
          <a:p>
            <a:pPr algn="r" indent="0" marL="0">
              <a:buNone/>
            </a:pPr>
            <a:r>
              <a:rPr lang="en-US" sz="1150" b="1" dirty="0">
                <a:solidFill>
                  <a:srgbClr val="0E1116"/>
                </a:solidFill>
                <a:latin typeface="Courier New" pitchFamily="34" charset="0"/>
                <a:ea typeface="Courier New" pitchFamily="34" charset="-122"/>
                <a:cs typeface="Courier New" pitchFamily="34" charset="-120"/>
              </a:rPr>
              <a:t>github.com/KernelChief/almalinux-creative-installer</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6"/>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alphaModFix amt="65000"/>
          </a:blip>
          <a:stretch>
            <a:fillRect/>
          </a:stretch>
        </p:blipFill>
        <p:spPr>
          <a:xfrm>
            <a:off x="10561320" y="502920"/>
            <a:ext cx="914400" cy="914400"/>
          </a:xfrm>
          <a:prstGeom prst="rect">
            <a:avLst/>
          </a:prstGeom>
        </p:spPr>
      </p:pic>
      <p:sp>
        <p:nvSpPr>
          <p:cNvPr id="3" name="Text 0"/>
          <p:cNvSpPr/>
          <p:nvPr/>
        </p:nvSpPr>
        <p:spPr>
          <a:xfrm>
            <a:off x="822960" y="1463040"/>
            <a:ext cx="8229600" cy="411480"/>
          </a:xfrm>
          <a:prstGeom prst="rect">
            <a:avLst/>
          </a:prstGeom>
          <a:noFill/>
          <a:ln/>
        </p:spPr>
        <p:txBody>
          <a:bodyPr wrap="square" lIns="0" tIns="0" rIns="0" bIns="0" rtlCol="0" anchor="ctr"/>
          <a:lstStyle/>
          <a:p>
            <a:pPr indent="0" marL="0">
              <a:buNone/>
            </a:pPr>
            <a:r>
              <a:rPr lang="en-US" sz="1500" b="1" spc="400" kern="0" dirty="0">
                <a:solidFill>
                  <a:srgbClr val="16C98D"/>
                </a:solidFill>
                <a:latin typeface="Calibri" pitchFamily="34" charset="0"/>
                <a:ea typeface="Calibri" pitchFamily="34" charset="-122"/>
                <a:cs typeface="Calibri" pitchFamily="34" charset="-120"/>
              </a:rPr>
              <a:t>THANK YOU</a:t>
            </a:r>
            <a:endParaRPr lang="en-US" sz="1500" dirty="0"/>
          </a:p>
        </p:txBody>
      </p:sp>
      <p:sp>
        <p:nvSpPr>
          <p:cNvPr id="4" name="Text 1"/>
          <p:cNvSpPr/>
          <p:nvPr/>
        </p:nvSpPr>
        <p:spPr>
          <a:xfrm>
            <a:off x="777240" y="1874520"/>
            <a:ext cx="10515600" cy="1097280"/>
          </a:xfrm>
          <a:prstGeom prst="rect">
            <a:avLst/>
          </a:prstGeom>
          <a:noFill/>
          <a:ln/>
        </p:spPr>
        <p:txBody>
          <a:bodyPr wrap="square" lIns="0" tIns="0" rIns="0" bIns="0" rtlCol="0" anchor="ctr"/>
          <a:lstStyle/>
          <a:p>
            <a:pPr indent="0" marL="0">
              <a:buNone/>
            </a:pPr>
            <a:r>
              <a:rPr lang="en-US" sz="6000" b="1" dirty="0">
                <a:solidFill>
                  <a:srgbClr val="F4F6F9"/>
                </a:solidFill>
                <a:latin typeface="Bookman Old Style" pitchFamily="34" charset="0"/>
                <a:ea typeface="Bookman Old Style" pitchFamily="34" charset="-122"/>
                <a:cs typeface="Bookman Old Style" pitchFamily="34" charset="-120"/>
              </a:rPr>
              <a:t>Questions?</a:t>
            </a:r>
            <a:endParaRPr lang="en-US" sz="6000" dirty="0"/>
          </a:p>
        </p:txBody>
      </p:sp>
      <p:sp>
        <p:nvSpPr>
          <p:cNvPr id="5" name="Text 2"/>
          <p:cNvSpPr/>
          <p:nvPr/>
        </p:nvSpPr>
        <p:spPr>
          <a:xfrm>
            <a:off x="822960" y="3108960"/>
            <a:ext cx="9601200" cy="640080"/>
          </a:xfrm>
          <a:prstGeom prst="rect">
            <a:avLst/>
          </a:prstGeom>
          <a:noFill/>
          <a:ln/>
        </p:spPr>
        <p:txBody>
          <a:bodyPr wrap="square" lIns="0" tIns="0" rIns="0" bIns="0" rtlCol="0" anchor="ctr"/>
          <a:lstStyle/>
          <a:p>
            <a:pPr indent="0" marL="0">
              <a:lnSpc>
                <a:spcPts val="2400"/>
              </a:lnSpc>
              <a:buNone/>
            </a:pPr>
            <a:r>
              <a:rPr lang="en-US" sz="1800" dirty="0">
                <a:solidFill>
                  <a:srgbClr val="9AA7B8"/>
                </a:solidFill>
                <a:latin typeface="Calibri" pitchFamily="34" charset="0"/>
                <a:ea typeface="Calibri" pitchFamily="34" charset="-122"/>
                <a:cs typeface="Calibri" pitchFamily="34" charset="-120"/>
              </a:rPr>
              <a:t>And if you run AlmaLinux for creative work — submit your rig to the catalog.</a:t>
            </a:r>
            <a:endParaRPr lang="en-US" sz="1800" dirty="0"/>
          </a:p>
        </p:txBody>
      </p:sp>
      <p:sp>
        <p:nvSpPr>
          <p:cNvPr id="6" name="Shape 6"/>
          <p:cNvSpPr/>
          <p:nvPr/>
        </p:nvSpPr>
        <p:spPr>
          <a:xfrm>
            <a:off x="421000" y="4200000"/>
            <a:ext cx="3550000" cy="2150000"/>
          </a:xfrm>
          <a:prstGeom prst="roundRect">
            <a:avLst>
              <a:gd name="adj" fmla="val 5405"/>
            </a:avLst>
          </a:prstGeom>
          <a:solidFill>
            <a:srgbClr val="171C24"/>
          </a:solidFill>
          <a:ln/>
          <a:effectLst>
            <a:outerShdw sx="100000" sy="100000" kx="0" ky="0" algn="bl" rotWithShape="0" blurRad="101600" dist="38100" dir="5400000">
              <a:srgbClr val="000000">
                <a:alpha val="30000"/>
              </a:srgbClr>
            </a:outerShdw>
          </a:effectLst>
        </p:spPr>
      </p:sp>
      <p:sp>
        <p:nvSpPr>
          <p:cNvPr id="7" name="Shape 7"/>
          <p:cNvSpPr/>
          <p:nvPr/>
        </p:nvSpPr>
        <p:spPr>
          <a:xfrm>
            <a:off x="771000" y="4550000"/>
            <a:ext cx="650000" cy="650000"/>
          </a:xfrm>
          <a:prstGeom prst="ellipse">
            <a:avLst/>
          </a:prstGeom>
          <a:solidFill>
            <a:srgbClr val="1E2530"/>
          </a:solidFill>
          <a:ln/>
        </p:spPr>
      </p:sp>
      <p:pic>
        <p:nvPicPr>
          <p:cNvPr id="8" name="Image 8" descr="preencoded.png"/>
          <p:cNvPicPr>
            <a:picLocks noChangeAspect="1"/>
          </p:cNvPicPr>
          <p:nvPr/>
        </p:nvPicPr>
        <p:blipFill>
          <a:blip r:embed="rId2"/>
          <a:stretch>
            <a:fillRect/>
          </a:stretch>
        </p:blipFill>
        <p:spPr>
          <a:xfrm>
            <a:off x="928500" y="4707500"/>
            <a:ext cx="335000" cy="335000"/>
          </a:xfrm>
          <a:prstGeom prst="rect">
            <a:avLst/>
          </a:prstGeom>
        </p:spPr>
      </p:pic>
      <p:sp>
        <p:nvSpPr>
          <p:cNvPr id="9" name="Text 9"/>
          <p:cNvSpPr/>
          <p:nvPr/>
        </p:nvSpPr>
        <p:spPr>
          <a:xfrm>
            <a:off x="1571000" y="4645000"/>
            <a:ext cx="2100000" cy="460000"/>
          </a:xfrm>
          <a:prstGeom prst="rect">
            <a:avLst/>
          </a:prstGeom>
          <a:noFill/>
          <a:ln/>
        </p:spPr>
        <p:txBody>
          <a:bodyPr wrap="square" lIns="0" tIns="0" rIns="0" bIns="0" rtlCol="0" anchor="ctr"/>
          <a:lstStyle/>
          <a:p>
            <a:pPr indent="0" marL="0">
              <a:buNone/>
            </a:pPr>
            <a:r>
              <a:rPr lang="en-US" sz="1750" b="1" dirty="0">
                <a:solidFill>
                  <a:srgbClr val="F4F6F9"/>
                </a:solidFill>
                <a:latin typeface="Bookman Old Style" pitchFamily="34" charset="0"/>
                <a:ea typeface="Bookman Old Style" pitchFamily="34" charset="-122"/>
                <a:cs typeface="Bookman Old Style" pitchFamily="34" charset="-120"/>
              </a:rPr>
              <a:t>Installer</a:t>
            </a:r>
            <a:endParaRPr lang="en-US" sz="1750" dirty="0"/>
          </a:p>
        </p:txBody>
      </p:sp>
      <p:sp>
        <p:nvSpPr>
          <p:cNvPr id="10" name="Text 10"/>
          <p:cNvSpPr/>
          <p:nvPr/>
        </p:nvSpPr>
        <p:spPr>
          <a:xfrm>
            <a:off x="771000" y="5350000"/>
            <a:ext cx="2850000" cy="650000"/>
          </a:xfrm>
          <a:prstGeom prst="rect">
            <a:avLst/>
          </a:prstGeom>
          <a:noFill/>
          <a:ln/>
        </p:spPr>
        <p:txBody>
          <a:bodyPr wrap="square" lIns="0" tIns="0" rIns="0" bIns="0" rtlCol="0" anchor="ctr"/>
          <a:lstStyle/>
          <a:p>
            <a:pPr indent="0" marL="0">
              <a:lnSpc>
                <a:spcPts val="1500"/>
              </a:lnSpc>
              <a:buNone/>
            </a:pPr>
            <a:r>
              <a:rPr lang="en-US" sz="1250" dirty="0">
                <a:solidFill>
                  <a:srgbClr val="16C98D"/>
                </a:solidFill>
                <a:latin typeface="Courier New" pitchFamily="34" charset="0"/>
                <a:ea typeface="Courier New" pitchFamily="34" charset="-122"/>
                <a:cs typeface="Courier New" pitchFamily="34" charset="-120"/>
              </a:rPr>
              <a:t>kernelchief.github.io/</a:t>
            </a:r>
            <a:endParaRPr lang="en-US" sz="1250" dirty="0"/>
          </a:p>
          <a:p>
            <a:pPr indent="0" marL="0">
              <a:lnSpc>
                <a:spcPts val="1500"/>
              </a:lnSpc>
              <a:buNone/>
            </a:pPr>
            <a:r>
              <a:rPr lang="en-US" sz="1250" dirty="0">
                <a:solidFill>
                  <a:srgbClr val="16C98D"/>
                </a:solidFill>
                <a:latin typeface="Courier New" pitchFamily="34" charset="0"/>
                <a:ea typeface="Courier New" pitchFamily="34" charset="-122"/>
                <a:cs typeface="Courier New" pitchFamily="34" charset="-120"/>
              </a:rPr>
              <a:t>almalinux-creative-installer</a:t>
            </a:r>
            <a:endParaRPr lang="en-US" sz="1250" dirty="0"/>
          </a:p>
        </p:txBody>
      </p:sp>
      <p:sp>
        <p:nvSpPr>
          <p:cNvPr id="11" name="Shape 11"/>
          <p:cNvSpPr/>
          <p:nvPr/>
        </p:nvSpPr>
        <p:spPr>
          <a:xfrm>
            <a:off x="4321000" y="4200000"/>
            <a:ext cx="3550000" cy="2150000"/>
          </a:xfrm>
          <a:prstGeom prst="roundRect">
            <a:avLst>
              <a:gd name="adj" fmla="val 5405"/>
            </a:avLst>
          </a:prstGeom>
          <a:solidFill>
            <a:srgbClr val="171C24"/>
          </a:solidFill>
          <a:ln/>
          <a:effectLst>
            <a:outerShdw sx="100000" sy="100000" kx="0" ky="0" algn="bl" rotWithShape="0" blurRad="101600" dist="38100" dir="5400000">
              <a:srgbClr val="000000">
                <a:alpha val="30000"/>
              </a:srgbClr>
            </a:outerShdw>
          </a:effectLst>
        </p:spPr>
      </p:sp>
      <p:sp>
        <p:nvSpPr>
          <p:cNvPr id="12" name="Shape 12"/>
          <p:cNvSpPr/>
          <p:nvPr/>
        </p:nvSpPr>
        <p:spPr>
          <a:xfrm>
            <a:off x="4671000" y="4550000"/>
            <a:ext cx="650000" cy="650000"/>
          </a:xfrm>
          <a:prstGeom prst="ellipse">
            <a:avLst/>
          </a:prstGeom>
          <a:solidFill>
            <a:srgbClr val="1E2530"/>
          </a:solidFill>
          <a:ln/>
        </p:spPr>
      </p:sp>
      <p:pic>
        <p:nvPicPr>
          <p:cNvPr id="13" name="Image 13" descr="preencoded.png"/>
          <p:cNvPicPr>
            <a:picLocks noChangeAspect="1"/>
          </p:cNvPicPr>
          <p:nvPr/>
        </p:nvPicPr>
        <p:blipFill>
          <a:blip r:embed="rId3"/>
          <a:stretch>
            <a:fillRect/>
          </a:stretch>
        </p:blipFill>
        <p:spPr>
          <a:xfrm>
            <a:off x="4828500" y="4707500"/>
            <a:ext cx="335000" cy="335000"/>
          </a:xfrm>
          <a:prstGeom prst="rect">
            <a:avLst/>
          </a:prstGeom>
        </p:spPr>
      </p:pic>
      <p:sp>
        <p:nvSpPr>
          <p:cNvPr id="14" name="Text 14"/>
          <p:cNvSpPr/>
          <p:nvPr/>
        </p:nvSpPr>
        <p:spPr>
          <a:xfrm>
            <a:off x="5471000" y="4645000"/>
            <a:ext cx="2100000" cy="460000"/>
          </a:xfrm>
          <a:prstGeom prst="rect">
            <a:avLst/>
          </a:prstGeom>
          <a:noFill/>
          <a:ln/>
        </p:spPr>
        <p:txBody>
          <a:bodyPr wrap="square" lIns="0" tIns="0" rIns="0" bIns="0" rtlCol="0" anchor="ctr"/>
          <a:lstStyle/>
          <a:p>
            <a:pPr indent="0" marL="0">
              <a:buNone/>
            </a:pPr>
            <a:r>
              <a:rPr lang="en-US" sz="1750" b="1" dirty="0">
                <a:solidFill>
                  <a:srgbClr val="F4F6F9"/>
                </a:solidFill>
                <a:latin typeface="Bookman Old Style" pitchFamily="34" charset="0"/>
                <a:ea typeface="Bookman Old Style" pitchFamily="34" charset="-122"/>
                <a:cs typeface="Bookman Old Style" pitchFamily="34" charset="-120"/>
              </a:rPr>
              <a:t>Hardware catalog</a:t>
            </a:r>
            <a:endParaRPr lang="en-US" sz="1750" dirty="0"/>
          </a:p>
        </p:txBody>
      </p:sp>
      <p:sp>
        <p:nvSpPr>
          <p:cNvPr id="15" name="Text 15"/>
          <p:cNvSpPr/>
          <p:nvPr/>
        </p:nvSpPr>
        <p:spPr>
          <a:xfrm>
            <a:off x="4671000" y="5350000"/>
            <a:ext cx="2850000" cy="650000"/>
          </a:xfrm>
          <a:prstGeom prst="rect">
            <a:avLst/>
          </a:prstGeom>
          <a:noFill/>
          <a:ln/>
        </p:spPr>
        <p:txBody>
          <a:bodyPr wrap="square" lIns="0" tIns="0" rIns="0" bIns="0" rtlCol="0" anchor="ctr"/>
          <a:lstStyle/>
          <a:p>
            <a:pPr indent="0" marL="0">
              <a:lnSpc>
                <a:spcPts val="1500"/>
              </a:lnSpc>
              <a:buNone/>
            </a:pPr>
            <a:r>
              <a:rPr lang="en-US" sz="1250" dirty="0">
                <a:solidFill>
                  <a:srgbClr val="16C98D"/>
                </a:solidFill>
                <a:latin typeface="Courier New" pitchFamily="34" charset="0"/>
                <a:ea typeface="Courier New" pitchFamily="34" charset="-122"/>
                <a:cs typeface="Courier New" pitchFamily="34" charset="-120"/>
              </a:rPr>
              <a:t>kernelchief.github.io/</a:t>
            </a:r>
            <a:endParaRPr lang="en-US" sz="1250" dirty="0"/>
          </a:p>
          <a:p>
            <a:pPr indent="0" marL="0">
              <a:lnSpc>
                <a:spcPts val="1500"/>
              </a:lnSpc>
              <a:buNone/>
            </a:pPr>
            <a:r>
              <a:rPr lang="en-US" sz="1250" dirty="0">
                <a:solidFill>
                  <a:srgbClr val="16C98D"/>
                </a:solidFill>
                <a:latin typeface="Courier New" pitchFamily="34" charset="0"/>
                <a:ea typeface="Courier New" pitchFamily="34" charset="-122"/>
                <a:cs typeface="Courier New" pitchFamily="34" charset="-120"/>
              </a:rPr>
              <a:t>almalinux-me-hardware-catalog</a:t>
            </a:r>
            <a:endParaRPr lang="en-US" sz="1250" dirty="0"/>
          </a:p>
        </p:txBody>
      </p:sp>
      <p:sp>
        <p:nvSpPr>
          <p:cNvPr id="16" name="Shape 16"/>
          <p:cNvSpPr/>
          <p:nvPr/>
        </p:nvSpPr>
        <p:spPr>
          <a:xfrm>
            <a:off x="8221000" y="4200000"/>
            <a:ext cx="3550000" cy="2150000"/>
          </a:xfrm>
          <a:prstGeom prst="roundRect">
            <a:avLst>
              <a:gd name="adj" fmla="val 5405"/>
            </a:avLst>
          </a:prstGeom>
          <a:solidFill>
            <a:srgbClr val="171C24"/>
          </a:solidFill>
          <a:ln/>
          <a:effectLst>
            <a:outerShdw sx="100000" sy="100000" kx="0" ky="0" algn="bl" rotWithShape="0" blurRad="101600" dist="38100" dir="5400000">
              <a:srgbClr val="000000">
                <a:alpha val="30000"/>
              </a:srgbClr>
            </a:outerShdw>
          </a:effectLst>
        </p:spPr>
      </p:sp>
      <p:sp>
        <p:nvSpPr>
          <p:cNvPr id="17" name="Shape 17"/>
          <p:cNvSpPr/>
          <p:nvPr/>
        </p:nvSpPr>
        <p:spPr>
          <a:xfrm>
            <a:off x="8571000" y="4550000"/>
            <a:ext cx="650000" cy="650000"/>
          </a:xfrm>
          <a:prstGeom prst="ellipse">
            <a:avLst/>
          </a:prstGeom>
          <a:solidFill>
            <a:srgbClr val="1E2530"/>
          </a:solidFill>
          <a:ln/>
        </p:spPr>
      </p:sp>
      <p:pic>
        <p:nvPicPr>
          <p:cNvPr id="18" name="Image 18" descr="preencoded.png"/>
          <p:cNvPicPr>
            <a:picLocks noChangeAspect="1"/>
          </p:cNvPicPr>
          <p:nvPr/>
        </p:nvPicPr>
        <p:blipFill>
          <a:blip r:embed="rId4"/>
          <a:stretch>
            <a:fillRect/>
          </a:stretch>
        </p:blipFill>
        <p:spPr>
          <a:xfrm>
            <a:off x="8728500" y="4707500"/>
            <a:ext cx="335000" cy="335000"/>
          </a:xfrm>
          <a:prstGeom prst="rect">
            <a:avLst/>
          </a:prstGeom>
        </p:spPr>
      </p:pic>
      <p:sp>
        <p:nvSpPr>
          <p:cNvPr id="19" name="Text 19"/>
          <p:cNvSpPr/>
          <p:nvPr/>
        </p:nvSpPr>
        <p:spPr>
          <a:xfrm>
            <a:off x="9371000" y="4645000"/>
            <a:ext cx="2100000" cy="460000"/>
          </a:xfrm>
          <a:prstGeom prst="rect">
            <a:avLst/>
          </a:prstGeom>
          <a:noFill/>
          <a:ln/>
        </p:spPr>
        <p:txBody>
          <a:bodyPr wrap="square" lIns="0" tIns="0" rIns="0" bIns="0" rtlCol="0" anchor="ctr"/>
          <a:lstStyle/>
          <a:p>
            <a:pPr indent="0" marL="0">
              <a:buNone/>
            </a:pPr>
            <a:r>
              <a:rPr lang="en-US" sz="1750" b="1" dirty="0">
                <a:solidFill>
                  <a:srgbClr val="F4F6F9"/>
                </a:solidFill>
                <a:latin typeface="Bookman Old Style" pitchFamily="34" charset="0"/>
                <a:ea typeface="Bookman Old Style" pitchFamily="34" charset="-122"/>
                <a:cs typeface="Bookman Old Style" pitchFamily="34" charset="-120"/>
              </a:rPr>
              <a:t>M&amp;E SIG chat</a:t>
            </a:r>
            <a:endParaRPr lang="en-US" sz="1750" dirty="0"/>
          </a:p>
        </p:txBody>
      </p:sp>
      <p:sp>
        <p:nvSpPr>
          <p:cNvPr id="20" name="Text 20"/>
          <p:cNvSpPr/>
          <p:nvPr/>
        </p:nvSpPr>
        <p:spPr>
          <a:xfrm>
            <a:off x="8571000" y="5350000"/>
            <a:ext cx="2850000" cy="650000"/>
          </a:xfrm>
          <a:prstGeom prst="rect">
            <a:avLst/>
          </a:prstGeom>
          <a:noFill/>
          <a:ln/>
        </p:spPr>
        <p:txBody>
          <a:bodyPr wrap="square" lIns="0" tIns="0" rIns="0" bIns="0" rtlCol="0" anchor="ctr"/>
          <a:lstStyle/>
          <a:p>
            <a:pPr indent="0" marL="0">
              <a:lnSpc>
                <a:spcPts val="1500"/>
              </a:lnSpc>
              <a:buNone/>
            </a:pPr>
            <a:r>
              <a:rPr lang="en-US" sz="1250" dirty="0">
                <a:solidFill>
                  <a:srgbClr val="16C98D"/>
                </a:solidFill>
                <a:latin typeface="Courier New" pitchFamily="34" charset="0"/>
                <a:ea typeface="Courier New" pitchFamily="34" charset="-122"/>
                <a:cs typeface="Courier New" pitchFamily="34" charset="-120"/>
              </a:rPr>
              <a:t>chat.almalinux.org →</a:t>
            </a:r>
            <a:endParaRPr lang="en-US" sz="1250" dirty="0"/>
          </a:p>
          <a:p>
            <a:pPr indent="0" marL="0">
              <a:lnSpc>
                <a:spcPts val="1500"/>
              </a:lnSpc>
              <a:buNone/>
            </a:pPr>
            <a:r>
              <a:rPr lang="en-US" sz="1250" dirty="0">
                <a:solidFill>
                  <a:srgbClr val="16C98D"/>
                </a:solidFill>
                <a:latin typeface="Courier New" pitchFamily="34" charset="0"/>
                <a:ea typeface="Courier New" pitchFamily="34" charset="-122"/>
                <a:cs typeface="Courier New" pitchFamily="34" charset="-120"/>
              </a:rPr>
              <a:t>sig-media-entertainment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AlmaLinux M&amp;E SIG — Creative Installer</dc:title>
  <dc:subject>PptxGenJS Presentation</dc:subject>
  <dc:creator>AlmaLinux M&amp;E SIG</dc:creator>
  <cp:lastModifiedBy>AlmaLinux M&amp;E SIG</cp:lastModifiedBy>
  <cp:revision>1</cp:revision>
  <dcterms:created xsi:type="dcterms:W3CDTF">2026-06-17T01:11:36Z</dcterms:created>
  <dcterms:modified xsi:type="dcterms:W3CDTF">2026-06-17T01:11:36Z</dcterms:modified>
</cp:coreProperties>
</file>