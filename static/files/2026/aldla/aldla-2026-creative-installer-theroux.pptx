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8"/>
    <p:sldId id="263" r:id="rId9"/>
    <p:sldId id="264" r:id="rId10"/>
    <p:sldId id="265" r:id="rId11"/>
    <p:sldId id="266" r:id="rId12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focused walkthrough of the AlmaLinux Creative Installer — the Qt GUI that gets creative studios and freelance artists onto AlmaLinux without the terminal. We'll cover the GUI, the security model behind it, then a live install demo, the app catalog, and how we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 is how we lower the barrier. Four things matter: it runs without the terminal; it figures out the right install source per app (DNF, Flatpak, RPM, vendor); it's secure by design with an unprivileged GUI plus Polkit helpers, same as official system tools; and it sets up the repos and NVIDIA drivers in one click. Install is two commands via COPR and it auto-updates. v2.0.1 is stable; v2.0.2 pre-release adds six more apps. (~2.5 min. Next slide goes deep on the security model — it matters for IT sign-off.)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 (~3 min). This slide is for the IT and pipeline-TD people in the room. The principle: the GUI is just a UI — it has no special powers. When it needs to install a package or enable a repo, it asks Polkit, which checks a policy and, if allowed, hands the job to a small privileged helper. Walk the left column top to bottom. Then the right column — why anyone should care: it's the identical pattern as PackageKit and GNOME Software, so it's not novel risk; the privileged code is a small auditable helper rather than a giant GUI running as root; and crucially there's nothing for IT to whitelist as a root app, which is what gets this approved in a studio. If asked 'why not just sudo the GUI' — that's the anti-pattern; a root GUI is a huge attack surface. Good Q&amp;A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— installer GUI (~4 min). CUE CARDS:
• Before you switch: say what they're about to see — 'a freelancer with a fresh AlmaLinux box, no IT, gets a working creative suite.'
• (1) Launch from the applications menu, not a terminal — emphasize this is the whole point.
• (2) Open the repo panel, toggle EPEL/CRB/RPM Fusion/Flathub/NVIDIA. Narrate: 'one click each, no copy-pasting repo files.'
• (3) Install Blender. When the Polkit auth prompt appears, STOP and point at it: 'that's the security model from two slides ago — the app didn't become root, it asked the system.'
• (4) Show that some apps come from DNF, some Flatpak, some vendor RPM, and the installer picks for you.
FALLBACK if the demo fails: screenshots are in backup; or describe the flow over the run-sheet on screen. Don't burn more than 30 sec troubleshooting live. Have the VM already booted and the GUI pre-launched off-screen.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40 apps, curated and supported by the community and the SIG, grouped by discipline. The numbers are app counts per category. The point isn't the list — it's that an artist gets a production-ready creative suite without assembling it themselves. (~1.5 min.)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 (~2.5 min). The matrix: two enterprise bases (AlmaLinux 9 and 10) times the two desktops most studios actually deploy (GNOME and KDE Plasma). AlmaLinux 10 + KDE Plasma is the primary focus because it's where the forward-looking work (Wayland, modern stack) concentrates, but we don't drop 9 — plenty of facilities are still there. Right column: each test pass isn't just 'does it open' — it's GUI rendering under both X11 and Wayland, every install path exercised, and the repo/driver setup confirmed. Tie to the hardware catalog on the next slide: lab testing covers the software matrix; the community catalog covers the hardware reality we can't buy one of everything to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(~4 min, light). Likely questions and quick answers:
• 'Does it work on Rocky / RHEL / Fedora?' — built and tested for AlmaLinux; the approach generalizes, broader coverage is on the roadmap.
• 'Why not Flatpak for everything?' — many pro/vendor tools aren't on Flathub or need vendor RPMs; multi-source is the honest answer.
• 'Which remote desktop / does it ship one?' — the installer doesn't bundle one; the SIG is testing the display-stack pieces. (Vendor-neutral on stage.)
• 'Is the GUI safe to run on a managed fleet?' — yes; unprivileged GUI + Polkit, nothing to whitelist as root.
• 'How do I add an app?' — CONTRIBUTING.md in the repo; it's a curated catalog, PRs welcome.
If no questions: re-invite everyone to submit a hardware report and join the SIG chat. Thank the room and the organizers.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10561320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 CREATIVE  INSTALLER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155448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Creative Tools.</a:t>
            </a:r>
            <a:endParaRPr lang="en-US" sz="5400" dirty="0"/>
          </a:p>
          <a:p>
            <a:pPr algn="l"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Enterprise Linux.</a:t>
            </a:r>
            <a:endParaRPr lang="en-US" sz="5400" dirty="0"/>
          </a:p>
          <a:p>
            <a:pPr algn="l"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16C98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Zero Compromise.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43434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Qt-based GUI that gets creative studios and freelance artists onto AlmaLinux — no terminal required.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5486400"/>
            <a:ext cx="10515600" cy="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Day: Los Angeles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5669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M&amp;E SIG Creative Installer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FRICTION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new Qt-based GUI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students and freelance artists onto Linux — without the terminal dread.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898648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7066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Independent setup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30540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 commands, no manual dependency hunting — a clean visual interface.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3675888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83133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63931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Multi-source installs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45920" y="3986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DNF, Flatpak, RPM and vendor installers automatically.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4608576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764024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5720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Enterprise security model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45920" y="49194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runs unprivileged; Polkit-protected helpers make system changes.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22960" y="5541264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5696712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55046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 auto-setup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45920" y="5852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EPEL, CRB, RPM Fusion, Flathub and NVIDIA drivers in one click.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7635240" y="1371600"/>
            <a:ext cx="3703320" cy="4572000"/>
          </a:xfrm>
          <a:prstGeom prst="roundRect">
            <a:avLst>
              <a:gd name="adj" fmla="val 2963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00100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IN MINUTES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00100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Install via COPR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8001000" y="2697480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060809"/>
          </a:solidFill>
          <a:ln/>
        </p:spPr>
      </p:sp>
      <p:sp>
        <p:nvSpPr>
          <p:cNvPr id="25" name="Text 19"/>
          <p:cNvSpPr/>
          <p:nvPr/>
        </p:nvSpPr>
        <p:spPr>
          <a:xfrm>
            <a:off x="8183880" y="28346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AlmaLinux 9 &amp; 10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dnf copr enable \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tristantheroux/\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AlmaLinux-Creative-Installer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4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dnf install \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4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almalinux-creative-installer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001000" y="4434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v2.0.1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stable on COPR · auto-updates with the system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001000" y="5074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v2.0.2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pre-release — +6 new creative apps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Secure by design, not by trust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never runs as root. It asks the system to make privileged changes the same way official tools do — so IT can sign off without exceptions.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6035040" cy="3337560"/>
          </a:xfrm>
          <a:prstGeom prst="roundRect">
            <a:avLst>
              <a:gd name="adj" fmla="val 3288"/>
            </a:avLst>
          </a:prstGeom>
          <a:solidFill>
            <a:srgbClr val="171C24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2926080"/>
            <a:ext cx="640080" cy="640080"/>
          </a:xfrm>
          <a:prstGeom prst="ellipse">
            <a:avLst/>
          </a:prstGeom>
          <a:solidFill>
            <a:srgbClr val="1E253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30815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Unprivileged GUI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your user. No root, ever.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630168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234440" y="3950208"/>
            <a:ext cx="640080" cy="640080"/>
          </a:xfrm>
          <a:prstGeom prst="ellipse">
            <a:avLst/>
          </a:prstGeom>
          <a:solidFill>
            <a:srgbClr val="1E253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4105656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57400" y="3904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Polkit checks the action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2057400" y="4270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 each privileged task by policy.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4654296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34440" y="4974336"/>
            <a:ext cx="640080" cy="640080"/>
          </a:xfrm>
          <a:prstGeom prst="ellipse">
            <a:avLst/>
          </a:prstGeom>
          <a:solidFill>
            <a:srgbClr val="1E2530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5129784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057400" y="49286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Helper does the work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2057400" y="52943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audited helper applies the change.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7132320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3054096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68096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Same model as system tools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7680960" y="33649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PackageKit, GNOME Software and friends work exactly this way.</a:t>
            </a:r>
            <a:endParaRPr lang="en-US" sz="13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4041648"/>
            <a:ext cx="384048" cy="38404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680960" y="3986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Auditable surface</a:t>
            </a:r>
            <a:endParaRPr lang="en-US" sz="1650" dirty="0"/>
          </a:p>
        </p:txBody>
      </p:sp>
      <p:sp>
        <p:nvSpPr>
          <p:cNvPr id="26" name="Text 17"/>
          <p:cNvSpPr/>
          <p:nvPr/>
        </p:nvSpPr>
        <p:spPr>
          <a:xfrm>
            <a:off x="7680960" y="43525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lives in small helpers, not a sprawling root GUI.</a:t>
            </a:r>
            <a:endParaRPr lang="en-US" sz="13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5029200"/>
            <a:ext cx="384048" cy="38404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680960" y="4974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Enterprise sign-off</a:t>
            </a:r>
            <a:endParaRPr lang="en-US" sz="1650" dirty="0"/>
          </a:p>
        </p:txBody>
      </p:sp>
      <p:sp>
        <p:nvSpPr>
          <p:cNvPr id="29" name="Text 19"/>
          <p:cNvSpPr/>
          <p:nvPr/>
        </p:nvSpPr>
        <p:spPr>
          <a:xfrm>
            <a:off x="7680960" y="53400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 IT to whitelist as a root application.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B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371600" cy="1371600"/>
          </a:xfrm>
          <a:prstGeom prst="ellipse">
            <a:avLst/>
          </a:prstGeom>
          <a:solidFill>
            <a:srgbClr val="0A8F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243584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7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423160" y="12801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11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Creative Installer, in action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822960" y="265176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3444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RUN-SHEET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329184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Launch from the menu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No terminal — it appears as a normal app.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repos in one click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Show EPEL / CRB / RPM Fusion / Flathub / NVIDIA toggles.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Pick an app — install Blender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Point out the Polkit prompt: GUI stays unprivileged.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Show the multi-source pick</a:t>
            </a:r>
            <a:endParaRPr lang="en-US" sz="15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DNF vs Flatpak vs vendor RPM, chosen automatically.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40+ apps across every creative discipline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383280" cy="1627632"/>
          </a:xfrm>
          <a:prstGeom prst="roundRect">
            <a:avLst>
              <a:gd name="adj" fmla="val 5618"/>
            </a:avLst>
          </a:prstGeom>
          <a:solidFill>
            <a:srgbClr val="171C24"/>
          </a:solidFill>
          <a:ln/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67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63240" y="20574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FB6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2715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Image &amp; Illustration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43000" y="3044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GIMP · Krita · Inkscape · darktable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874520"/>
            <a:ext cx="3383280" cy="1627632"/>
          </a:xfrm>
          <a:prstGeom prst="roundRect">
            <a:avLst>
              <a:gd name="adj" fmla="val 5618"/>
            </a:avLst>
          </a:prstGeom>
          <a:solidFill>
            <a:srgbClr val="171C24"/>
          </a:solidFill>
          <a:ln/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6712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20574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4800600" y="2715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Video &amp; Motion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800600" y="3044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DaVinci Resolve · Kdenlive · Natron · OBS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383280" cy="1627632"/>
          </a:xfrm>
          <a:prstGeom prst="roundRect">
            <a:avLst>
              <a:gd name="adj" fmla="val 5618"/>
            </a:avLst>
          </a:prstGeom>
          <a:solidFill>
            <a:srgbClr val="171C24"/>
          </a:solidFill>
          <a:ln/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6712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78440" y="20574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DA9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8458200" y="2715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3D &amp; Modeling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58200" y="3044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· FreeCAD · PrusaSlicer · 3DCoat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" y="3758184"/>
            <a:ext cx="3383280" cy="1627632"/>
          </a:xfrm>
          <a:prstGeom prst="roundRect">
            <a:avLst>
              <a:gd name="adj" fmla="val 5618"/>
            </a:avLst>
          </a:prstGeom>
          <a:solidFill>
            <a:srgbClr val="171C24"/>
          </a:solidFill>
          <a:ln/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507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063240" y="394106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C98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1143000" y="4599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Audio &amp; Music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1143000" y="49286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Ardour · Bitwig · Audacity · LMMS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80560" y="3758184"/>
            <a:ext cx="3383280" cy="1627632"/>
          </a:xfrm>
          <a:prstGeom prst="roundRect">
            <a:avLst>
              <a:gd name="adj" fmla="val 5618"/>
            </a:avLst>
          </a:prstGeom>
          <a:solidFill>
            <a:srgbClr val="171C24"/>
          </a:solidFill>
          <a:ln/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05079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20840" y="394106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0"/>
          <p:cNvSpPr/>
          <p:nvPr/>
        </p:nvSpPr>
        <p:spPr>
          <a:xfrm>
            <a:off x="4800600" y="4599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Game Development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4800600" y="49286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· Epic Asset Manager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3758184"/>
            <a:ext cx="3383280" cy="1627632"/>
          </a:xfrm>
          <a:prstGeom prst="roundRect">
            <a:avLst>
              <a:gd name="adj" fmla="val 5618"/>
            </a:avLst>
          </a:prstGeom>
          <a:solidFill>
            <a:srgbClr val="171C24"/>
          </a:solidFill>
          <a:ln/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050792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378440" y="394106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DA9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3000" dirty="0"/>
          </a:p>
        </p:txBody>
      </p:sp>
      <p:sp>
        <p:nvSpPr>
          <p:cNvPr id="32" name="Text 24"/>
          <p:cNvSpPr/>
          <p:nvPr/>
        </p:nvSpPr>
        <p:spPr>
          <a:xfrm>
            <a:off x="8458200" y="4599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Productivity &amp; Comms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8458200" y="49286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Scribus · LibreOffice · draw.io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QA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we test — the coverage matrix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is validated across enterprise bases and the two major desktops, so the installer behaves the same wherever an artist lands.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8688" y="274320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0E1116"/>
          </a:solidFill>
          <a:ln/>
        </p:spPr>
      </p:sp>
      <p:sp>
        <p:nvSpPr>
          <p:cNvPr id="6" name="Text 4"/>
          <p:cNvSpPr/>
          <p:nvPr/>
        </p:nvSpPr>
        <p:spPr>
          <a:xfrm>
            <a:off x="3218688" y="27432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02936" y="274320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0E1116"/>
          </a:solidFill>
          <a:ln/>
        </p:spPr>
      </p:sp>
      <p:sp>
        <p:nvSpPr>
          <p:cNvPr id="8" name="Text 6"/>
          <p:cNvSpPr/>
          <p:nvPr/>
        </p:nvSpPr>
        <p:spPr>
          <a:xfrm>
            <a:off x="5202936" y="27432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Plasma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19856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8ECF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1985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9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18688" y="3419856"/>
            <a:ext cx="1874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18688" y="3419856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02936" y="3419856"/>
            <a:ext cx="1874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02936" y="3419856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370832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8EC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37083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10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18688" y="4370832"/>
            <a:ext cx="1874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18688" y="4370832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B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02936" y="4370832"/>
            <a:ext cx="1874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02936" y="4370832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352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B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VERIFIES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35240" y="28346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97180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348472" y="2816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 launches &amp; renders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348472" y="31455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both X11 and Wayland sessions.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635240" y="370332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84048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348472" y="36850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install path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348472" y="4014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DNF, Flatpak, RPM and vendor flows.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635240" y="457200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348472" y="4553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 + driver setup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8348472" y="48828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EPEL, CRB, RPM Fusion, Flathub, NVIDIA.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10561320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6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7724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if you run AlmaLinux for creative work — submit your rig to the catalog.</a:t>
            </a:r>
            <a:endParaRPr lang="en-US" sz="1800" dirty="0"/>
          </a:p>
        </p:txBody>
      </p:sp>
      <p:sp>
        <p:nvSpPr>
          <p:cNvPr id="6" name="Shape 6"/>
          <p:cNvSpPr/>
          <p:nvPr/>
        </p:nvSpPr>
        <p:spPr>
          <a:xfrm>
            <a:off x="421000" y="4200000"/>
            <a:ext cx="3550000" cy="2150000"/>
          </a:xfrm>
          <a:prstGeom prst="roundRect">
            <a:avLst>
              <a:gd name="adj" fmla="val 5405"/>
            </a:avLst>
          </a:prstGeom>
          <a:solidFill>
            <a:srgbClr val="171C24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1000" y="4550000"/>
            <a:ext cx="650000" cy="650000"/>
          </a:xfrm>
          <a:prstGeom prst="ellipse">
            <a:avLst/>
          </a:prstGeom>
          <a:solidFill>
            <a:srgbClr val="1E2530"/>
          </a:solidFill>
          <a:ln/>
        </p:spPr>
      </p:sp>
      <p:pic>
        <p:nvPicPr>
          <p:cNvPr id="8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00" y="4707500"/>
            <a:ext cx="335000" cy="335000"/>
          </a:xfrm>
          <a:prstGeom prst="rect">
            <a:avLst/>
          </a:prstGeom>
        </p:spPr>
      </p:pic>
      <p:sp>
        <p:nvSpPr>
          <p:cNvPr id="9" name="Text 9"/>
          <p:cNvSpPr/>
          <p:nvPr/>
        </p:nvSpPr>
        <p:spPr>
          <a:xfrm>
            <a:off x="1571000" y="4645000"/>
            <a:ext cx="21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Installer</a:t>
            </a:r>
            <a:endParaRPr lang="en-US" sz="1750" dirty="0"/>
          </a:p>
        </p:txBody>
      </p:sp>
      <p:sp>
        <p:nvSpPr>
          <p:cNvPr id="10" name="Text 10"/>
          <p:cNvSpPr/>
          <p:nvPr/>
        </p:nvSpPr>
        <p:spPr>
          <a:xfrm>
            <a:off x="771000" y="5350000"/>
            <a:ext cx="285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kernelchief.github.io/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almalinux-creative-installer</a:t>
            </a:r>
            <a:endParaRPr lang="en-US" sz="1250" dirty="0"/>
          </a:p>
        </p:txBody>
      </p:sp>
      <p:sp>
        <p:nvSpPr>
          <p:cNvPr id="11" name="Shape 11"/>
          <p:cNvSpPr/>
          <p:nvPr/>
        </p:nvSpPr>
        <p:spPr>
          <a:xfrm>
            <a:off x="4321000" y="4200000"/>
            <a:ext cx="3550000" cy="2150000"/>
          </a:xfrm>
          <a:prstGeom prst="roundRect">
            <a:avLst>
              <a:gd name="adj" fmla="val 5405"/>
            </a:avLst>
          </a:prstGeom>
          <a:solidFill>
            <a:srgbClr val="171C24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4671000" y="4550000"/>
            <a:ext cx="650000" cy="650000"/>
          </a:xfrm>
          <a:prstGeom prst="ellipse">
            <a:avLst/>
          </a:prstGeom>
          <a:solidFill>
            <a:srgbClr val="1E2530"/>
          </a:solidFill>
          <a:ln/>
        </p:spPr>
      </p:sp>
      <p:pic>
        <p:nvPicPr>
          <p:cNvPr id="13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500" y="4707500"/>
            <a:ext cx="335000" cy="335000"/>
          </a:xfrm>
          <a:prstGeom prst="rect">
            <a:avLst/>
          </a:prstGeom>
        </p:spPr>
      </p:pic>
      <p:sp>
        <p:nvSpPr>
          <p:cNvPr id="14" name="Text 14"/>
          <p:cNvSpPr/>
          <p:nvPr/>
        </p:nvSpPr>
        <p:spPr>
          <a:xfrm>
            <a:off x="5471000" y="4645000"/>
            <a:ext cx="21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 catalog</a:t>
            </a:r>
            <a:endParaRPr lang="en-US" sz="1750" dirty="0"/>
          </a:p>
        </p:txBody>
      </p:sp>
      <p:sp>
        <p:nvSpPr>
          <p:cNvPr id="15" name="Text 15"/>
          <p:cNvSpPr/>
          <p:nvPr/>
        </p:nvSpPr>
        <p:spPr>
          <a:xfrm>
            <a:off x="4671000" y="5350000"/>
            <a:ext cx="285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kernelchief.github.io/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almalinux-me-hardware-catalog</a:t>
            </a:r>
            <a:endParaRPr lang="en-US" sz="1250" dirty="0"/>
          </a:p>
        </p:txBody>
      </p:sp>
      <p:sp>
        <p:nvSpPr>
          <p:cNvPr id="16" name="Shape 16"/>
          <p:cNvSpPr/>
          <p:nvPr/>
        </p:nvSpPr>
        <p:spPr>
          <a:xfrm>
            <a:off x="8221000" y="4200000"/>
            <a:ext cx="3550000" cy="2150000"/>
          </a:xfrm>
          <a:prstGeom prst="roundRect">
            <a:avLst>
              <a:gd name="adj" fmla="val 5405"/>
            </a:avLst>
          </a:prstGeom>
          <a:solidFill>
            <a:srgbClr val="171C24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8571000" y="4550000"/>
            <a:ext cx="650000" cy="650000"/>
          </a:xfrm>
          <a:prstGeom prst="ellipse">
            <a:avLst/>
          </a:prstGeom>
          <a:solidFill>
            <a:srgbClr val="1E2530"/>
          </a:solidFill>
          <a:ln/>
        </p:spPr>
      </p:sp>
      <p:pic>
        <p:nvPicPr>
          <p:cNvPr id="18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500" y="4707500"/>
            <a:ext cx="335000" cy="335000"/>
          </a:xfrm>
          <a:prstGeom prst="rect">
            <a:avLst/>
          </a:prstGeom>
        </p:spPr>
      </p:pic>
      <p:sp>
        <p:nvSpPr>
          <p:cNvPr id="19" name="Text 19"/>
          <p:cNvSpPr/>
          <p:nvPr/>
        </p:nvSpPr>
        <p:spPr>
          <a:xfrm>
            <a:off x="9371000" y="4645000"/>
            <a:ext cx="21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4F6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M&amp;E SIG chat</a:t>
            </a:r>
            <a:endParaRPr lang="en-US" sz="1750" dirty="0"/>
          </a:p>
        </p:txBody>
      </p:sp>
      <p:sp>
        <p:nvSpPr>
          <p:cNvPr id="20" name="Text 20"/>
          <p:cNvSpPr/>
          <p:nvPr/>
        </p:nvSpPr>
        <p:spPr>
          <a:xfrm>
            <a:off x="8571000" y="5350000"/>
            <a:ext cx="285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chat.almalinux.org →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C9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sig-media-entertainment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AlmaLinux M&amp;E SIG — Creative Installer</dc:title>
  <dc:subject>PptxGenJS Presentation</dc:subject>
  <dc:creator>AlmaLinux M&amp;E SIG</dc:creator>
  <cp:lastModifiedBy>AlmaLinux M&amp;E SIG</cp:lastModifiedBy>
  <cp:revision>1</cp:revision>
  <dcterms:created xsi:type="dcterms:W3CDTF">2026-06-17T01:11:36Z</dcterms:created>
  <dcterms:modified xsi:type="dcterms:W3CDTF">2026-06-17T01:11:36Z</dcterms:modified>
</cp:coreProperties>
</file>